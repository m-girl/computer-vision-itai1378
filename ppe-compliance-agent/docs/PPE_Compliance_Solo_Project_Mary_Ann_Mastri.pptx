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50292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347472" cy="6858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0"/>
            <a:ext cx="22860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7863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PPE Compliance Checker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0">
                <a:solidFill>
                  <a:srgbClr val="BAE6FD"/>
                </a:solidFill>
                <a:latin typeface="Aptos"/>
              </a:rPr>
              <a:t>Multi-Agent Computer Vision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Detect • Reason •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Construction-site PPE compliance using a custom-trained YOLO11 detector and three-agent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8076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>
                <a:solidFill>
                  <a:srgbClr val="94A3B8"/>
                </a:solidFill>
                <a:latin typeface="Aptos"/>
              </a:rPr>
              <a:t>ITAI 1378 • Computer Vision Capstone • Tier 3 • Solo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825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  <a:latin typeface="Aptos"/>
              </a:rPr>
              <a:t>Mary Ann Mastri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Aptos"/>
              </a:rPr>
              <a:t>Solo expansion of the earlier midterm group project, developed and completed by Mary Ann Mastri.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D2B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 useful safety system must detect PPE and turn detections into an actionable compliance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54480"/>
            <a:ext cx="3136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1D2B"/>
                </a:solidFill>
                <a:latin typeface="Aptos"/>
              </a:rPr>
              <a:t>1 • PERCEIVE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47672"/>
            <a:ext cx="31363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74352"/>
                </a:solidFill>
                <a:latin typeface="Aptos"/>
              </a:rPr>
              <a:t>Construction photos contain workers, PPE, occlusion, small objects, and visual clutter.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554480"/>
            <a:ext cx="3136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1D2B"/>
                </a:solidFill>
                <a:latin typeface="Aptos"/>
              </a:rPr>
              <a:t>2 •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947672"/>
            <a:ext cx="31363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74352"/>
                </a:solidFill>
                <a:latin typeface="Aptos"/>
              </a:rPr>
              <a:t>A detection alone is not a safety judgment. The system must identify missing or explicit violation classes.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554480"/>
            <a:ext cx="3136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1D2B"/>
                </a:solidFill>
                <a:latin typeface="Aptos"/>
              </a:rPr>
              <a:t>3 • 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1947672"/>
            <a:ext cx="313639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74352"/>
                </a:solidFill>
                <a:latin typeface="Aptos"/>
              </a:rPr>
              <a:t>The final result should be understandable: annotated image, structured JSON, and an alert when a scene is non-compliant.</a:t>
            </a:r>
          </a:p>
        </p:txBody>
      </p:sp>
      <p:pic>
        <p:nvPicPr>
          <p:cNvPr id="18" name="Picture 17" descr="ground_truth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10698480" cy="2240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9618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Example labeled construction-PPE training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4476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  <a:latin typeface="Aptos"/>
              </a:rPr>
              <a:t>Project context: this capstone work expands the midterm group prototype into an individually developed end-to-end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D2B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Three agents communicate through structured messages; only the Perception Agent touches pixels.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2148840" cy="15087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58775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363EB"/>
                </a:solidFill>
                <a:latin typeface="Aptos"/>
              </a:rPr>
              <a:t>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90088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74352"/>
                </a:solidFill>
                <a:latin typeface="Aptos"/>
              </a:rPr>
              <a:t>Raw construction 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057400"/>
            <a:ext cx="2148840" cy="15087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222199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A5E9"/>
                </a:solidFill>
                <a:latin typeface="Aptos"/>
              </a:rPr>
              <a:t>PERCEPTION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24328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74352"/>
                </a:solidFill>
                <a:latin typeface="Aptos"/>
              </a:rPr>
              <a:t>YOLO11 ONNX</a:t>
            </a:r>
            <a:br/>
            <a:r>
              <a:t>class • confidence • bbox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2057400"/>
            <a:ext cx="2148840" cy="15087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16168" y="222199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6A34A"/>
                </a:solidFill>
                <a:latin typeface="Aptos"/>
              </a:rP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24328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74352"/>
                </a:solidFill>
                <a:latin typeface="Aptos"/>
              </a:rPr>
              <a:t>Rule-based reasoning</a:t>
            </a:r>
            <a:br/>
            <a:r>
              <a:t>compliant • violations • missing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057400"/>
            <a:ext cx="2148840" cy="150876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222199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Aptos"/>
              </a:rPr>
              <a:t>REPORTER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624328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74352"/>
                </a:solidFill>
                <a:latin typeface="Aptos"/>
              </a:rPr>
              <a:t>Annotated image</a:t>
            </a:r>
            <a:br/>
            <a:r>
              <a:t>JSON report • console alert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3182112"/>
            <a:ext cx="914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15000" y="3182112"/>
            <a:ext cx="914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32520" y="3182112"/>
            <a:ext cx="9144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43434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343400"/>
            <a:ext cx="64008" cy="123444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480560"/>
            <a:ext cx="2770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D2B"/>
                </a:solidFill>
                <a:latin typeface="Aptos"/>
              </a:rPr>
              <a:t>Message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873752"/>
            <a:ext cx="277063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74352"/>
                </a:solidFill>
                <a:latin typeface="Aptos"/>
              </a:rPr>
              <a:t>detections[] → {class, conf, bbox}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3434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4343400"/>
            <a:ext cx="64008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0872" y="4480560"/>
            <a:ext cx="2770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D2B"/>
                </a:solidFill>
                <a:latin typeface="Aptos"/>
              </a:rPr>
              <a:t>Message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4873752"/>
            <a:ext cx="277063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74352"/>
                </a:solidFill>
                <a:latin typeface="Aptos"/>
              </a:rPr>
              <a:t>compliance{} → {compliant, violations, missing, detected}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3434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434340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4480560"/>
            <a:ext cx="2770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D2B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4873752"/>
            <a:ext cx="277063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74352"/>
                </a:solidFill>
                <a:latin typeface="Aptos"/>
              </a:rPr>
              <a:t>Useful artifacts for a human reviewer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37960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PPE Compliance Checker • ITAI 1378 Computer Vision Capstone • Mary Ann Mastri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D2B"/>
                </a:solidFill>
                <a:latin typeface="Aptos"/>
              </a:rPr>
              <a:t>Dataset &amp;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Ultralytics Construction-PPE dataset: 1,416 images across 11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0574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2363EB"/>
                </a:solidFill>
                <a:latin typeface="Aptos"/>
              </a:rPr>
              <a:t>1,416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total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25880"/>
            <a:ext cx="20574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9047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0EA5E9"/>
                </a:solidFill>
                <a:latin typeface="Aptos"/>
              </a:rPr>
              <a:t>1,132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0312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325880"/>
            <a:ext cx="20574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49047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16A34A"/>
                </a:solidFill>
                <a:latin typeface="Aptos"/>
              </a:rPr>
              <a:t>143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10312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325880"/>
            <a:ext cx="20574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49047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F59E0B"/>
                </a:solidFill>
                <a:latin typeface="Aptos"/>
              </a:rPr>
              <a:t>141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10312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325880"/>
            <a:ext cx="173736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490472"/>
            <a:ext cx="1463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DC2626"/>
                </a:solidFill>
                <a:latin typeface="Apto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103120"/>
            <a:ext cx="1463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classes</a:t>
            </a:r>
          </a:p>
        </p:txBody>
      </p:sp>
      <p:pic>
        <p:nvPicPr>
          <p:cNvPr id="21" name="Picture 20" descr="labe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80360"/>
            <a:ext cx="3977639" cy="324612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892040" y="292608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292608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1" y="3063240"/>
            <a:ext cx="2770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D2B"/>
                </a:solidFill>
                <a:latin typeface="Aptos"/>
              </a:rPr>
              <a:t>WORN PPE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1" y="3456432"/>
            <a:ext cx="277063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74352"/>
                </a:solidFill>
                <a:latin typeface="Aptos"/>
              </a:rPr>
              <a:t>helmet • gloves • vest • boots • goggles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292608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292608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1" y="3063240"/>
            <a:ext cx="2770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D2B"/>
                </a:solidFill>
                <a:latin typeface="Aptos"/>
              </a:rPr>
              <a:t>VIOLATIONS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3456432"/>
            <a:ext cx="277063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74352"/>
                </a:solidFill>
                <a:latin typeface="Aptos"/>
              </a:rPr>
              <a:t>no_helmet • no_gloves • no_boots • no_goggle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4617720"/>
            <a:ext cx="3063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92040" y="4617720"/>
            <a:ext cx="64008" cy="105156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6631" y="4754880"/>
            <a:ext cx="2770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D2B"/>
                </a:solidFill>
                <a:latin typeface="Aptos"/>
              </a:rPr>
              <a:t>OTHER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6631" y="5148072"/>
            <a:ext cx="2770632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74352"/>
                </a:solidFill>
                <a:latin typeface="Aptos"/>
              </a:rPr>
              <a:t>Person • none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617720"/>
            <a:ext cx="30632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4352"/>
                </a:solidFill>
                <a:latin typeface="Aptos"/>
              </a:rPr>
              <a:t>Key challenge: violation labels encode absence/missing PPE, making them harder to learn than visible worn items.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D2B"/>
                </a:solidFill>
                <a:latin typeface="Aptos"/>
              </a:rPr>
              <a:t>Model training &amp;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 lightweight YOLO11n model was fine-tuned, exported to ONNX, and used for CPU inference.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14173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63039"/>
            <a:ext cx="29992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D2B"/>
                </a:solidFill>
                <a:latin typeface="Aptos"/>
              </a:rPr>
              <a:t>BASE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56231"/>
            <a:ext cx="299923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74352"/>
                </a:solidFill>
                <a:latin typeface="Aptos"/>
              </a:rPr>
              <a:t>YOLO11n, COCO-pretrained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64008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463039"/>
            <a:ext cx="29992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D2B"/>
                </a:solidFill>
                <a:latin typeface="Aptos"/>
              </a:rPr>
              <a:t>FINAL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1856231"/>
            <a:ext cx="299923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74352"/>
                </a:solidFill>
                <a:latin typeface="Aptos"/>
              </a:rPr>
              <a:t>10 epochs • 320px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2588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463039"/>
            <a:ext cx="29992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D2B"/>
                </a:solidFill>
                <a:latin typeface="Aptos"/>
              </a:rPr>
              <a:t>DEPLOYMENT 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1856231"/>
            <a:ext cx="299923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74352"/>
                </a:solidFill>
                <a:latin typeface="Aptos"/>
              </a:rPr>
              <a:t>ONNX + onnxruntime CPU provider</a:t>
            </a:r>
          </a:p>
        </p:txBody>
      </p:sp>
      <p:pic>
        <p:nvPicPr>
          <p:cNvPr id="18" name="Picture 17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63240"/>
            <a:ext cx="6903720" cy="32461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909560" y="3154680"/>
            <a:ext cx="3429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3154680"/>
            <a:ext cx="6400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3291840"/>
            <a:ext cx="3136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D2B"/>
                </a:solidFill>
                <a:latin typeface="Aptos"/>
              </a:rPr>
              <a:t>WHY THIS CONFIG?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3685032"/>
            <a:ext cx="3136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74352"/>
                </a:solidFill>
                <a:latin typeface="Aptos"/>
              </a:rPr>
              <a:t>The run began as a smoke test to validate train → export → agents → reports end-to-end.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45262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09560" y="4526280"/>
            <a:ext cx="64008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4663440"/>
            <a:ext cx="3136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D2B"/>
                </a:solidFill>
                <a:latin typeface="Aptos"/>
              </a:rPr>
              <a:t>TRAINING CONSTRAINT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5056632"/>
            <a:ext cx="313639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74352"/>
                </a:solidFill>
                <a:latin typeface="Aptos"/>
              </a:rPr>
              <a:t>A longer 50-epoch / 640px run was attempted, but repeated Colab disconnects and resets prevented completion.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37960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PPE Compliance Checker • ITAI 1378 Computer Vision Capstone • Mary Ann Mastri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D2B"/>
                </a:solidFill>
                <a:latin typeface="Aptos"/>
              </a:rPr>
              <a:t>The three-agent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The pipeline separates perception, reasoning, and reporting so each stage has a clear contract.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0012680" cy="11887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0020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63EB"/>
                </a:solidFill>
                <a:latin typeface="Aptos"/>
              </a:rPr>
              <a:t>Perception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63624"/>
            <a:ext cx="7040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74352"/>
                </a:solidFill>
                <a:latin typeface="Aptos"/>
              </a:rPr>
              <a:t>Runs YOLO11 ONNX inference</a:t>
            </a:r>
            <a:br/>
            <a:r>
              <a:t>• letterbox preprocessing</a:t>
            </a:r>
            <a:br/>
            <a:r>
              <a:t>• decode detections</a:t>
            </a:r>
            <a:br/>
            <a:r>
              <a:t>• returns structured dicts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54203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90088"/>
            <a:ext cx="10012680" cy="11887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72968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Aptos"/>
              </a:rPr>
              <a:t>Compliance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36392"/>
            <a:ext cx="7040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74352"/>
                </a:solidFill>
                <a:latin typeface="Aptos"/>
              </a:rPr>
              <a:t>Applies safety rules</a:t>
            </a:r>
            <a:br/>
            <a:r>
              <a:t>• explicit no_* violations</a:t>
            </a:r>
            <a:br/>
            <a:r>
              <a:t>• required worn-PPE checks</a:t>
            </a:r>
            <a:br/>
            <a:r>
              <a:t>• returns compliance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1148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62856"/>
            <a:ext cx="10012680" cy="118872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745736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Aptos"/>
              </a:rPr>
              <a:t>Reporter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709160"/>
            <a:ext cx="7040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74352"/>
                </a:solidFill>
                <a:latin typeface="Aptos"/>
              </a:rPr>
              <a:t>Turns the decision into action</a:t>
            </a:r>
            <a:br/>
            <a:r>
              <a:t>• annotated image</a:t>
            </a:r>
            <a:br/>
            <a:r>
              <a:t>• JSON report</a:t>
            </a:r>
            <a:br/>
            <a:r>
              <a:t>• console alert for violations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37960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PPE Compliance Checker • ITAI 1378 Computer Vision Capstone • Mary Ann Mastri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D2B"/>
                </a:solidFill>
                <a:latin typeface="Aptos"/>
              </a:rPr>
              <a:t>Evaluation: strong on common worn PPE, weak on violations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Validation set: 143 images / 1,172 ground-truth instances.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24028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2363EB"/>
                </a:solidFill>
                <a:latin typeface="Aptos"/>
              </a:rPr>
              <a:t>0.524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mAP50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325880"/>
            <a:ext cx="224028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9047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0EA5E9"/>
                </a:solidFill>
                <a:latin typeface="Aptos"/>
              </a:rPr>
              <a:t>0.253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0312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mAP50–95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325880"/>
            <a:ext cx="224028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49047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16A34A"/>
                </a:solidFill>
                <a:latin typeface="Aptos"/>
              </a:rPr>
              <a:t>0.710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0312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mean 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325880"/>
            <a:ext cx="224028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490472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F59E0B"/>
                </a:solidFill>
                <a:latin typeface="Aptos"/>
              </a:rPr>
              <a:t>0.504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10312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Aptos"/>
              </a:rPr>
              <a:t>mean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260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D2B"/>
                </a:solidFill>
                <a:latin typeface="Aptos"/>
              </a:rPr>
              <a:t>Representative class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40156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4352"/>
                </a:solidFill>
                <a:latin typeface="Aptos"/>
              </a:rPr>
              <a:t>vest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3419856"/>
            <a:ext cx="2971800" cy="21031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40280" y="3419856"/>
            <a:ext cx="2502255" cy="21031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338328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6A34A"/>
                </a:solidFill>
                <a:latin typeface="Aptos"/>
              </a:rPr>
              <a:t>0.842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74904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4352"/>
                </a:solidFill>
                <a:latin typeface="Aptos"/>
              </a:rPr>
              <a:t>Person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3767328"/>
            <a:ext cx="2971800" cy="21031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240280" y="3767328"/>
            <a:ext cx="2603296" cy="21031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37307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16A34A"/>
                </a:solidFill>
                <a:latin typeface="Aptos"/>
              </a:rPr>
              <a:t>0.876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9651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4352"/>
                </a:solidFill>
                <a:latin typeface="Aptos"/>
              </a:rPr>
              <a:t>helmet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40280" y="4114800"/>
            <a:ext cx="2971800" cy="21031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240280" y="4114800"/>
            <a:ext cx="2282342" cy="210312"/>
          </a:xfrm>
          <a:prstGeom prst="round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407822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363EB"/>
                </a:solidFill>
                <a:latin typeface="Aptos"/>
              </a:rPr>
              <a:t>0.768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443984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4352"/>
                </a:solidFill>
                <a:latin typeface="Aptos"/>
              </a:rPr>
              <a:t>goggles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40280" y="4462272"/>
            <a:ext cx="2971800" cy="21031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240280" y="4462272"/>
            <a:ext cx="2213991" cy="210312"/>
          </a:xfrm>
          <a:prstGeom prst="round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4425696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363EB"/>
                </a:solidFill>
                <a:latin typeface="Aptos"/>
              </a:rPr>
              <a:t>0.745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791456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4352"/>
                </a:solidFill>
                <a:latin typeface="Aptos"/>
              </a:rPr>
              <a:t>no_helmet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40280" y="4809744"/>
            <a:ext cx="2971800" cy="21031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240280" y="4809744"/>
            <a:ext cx="983665" cy="2103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9240" y="4773168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C2626"/>
                </a:solidFill>
                <a:latin typeface="Aptos"/>
              </a:rPr>
              <a:t>0.331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13892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4352"/>
                </a:solidFill>
                <a:latin typeface="Aptos"/>
              </a:rPr>
              <a:t>no_goggle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40280" y="5157216"/>
            <a:ext cx="2971800" cy="21031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240280" y="5157216"/>
            <a:ext cx="478459" cy="2103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5120640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C2626"/>
                </a:solidFill>
                <a:latin typeface="Aptos"/>
              </a:rPr>
              <a:t>0.161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48640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4352"/>
                </a:solidFill>
                <a:latin typeface="Aptos"/>
              </a:rPr>
              <a:t>no_gloves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40280" y="5504688"/>
            <a:ext cx="2971800" cy="21031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240280" y="5504688"/>
            <a:ext cx="374446" cy="2103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49240" y="546811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C2626"/>
                </a:solidFill>
                <a:latin typeface="Aptos"/>
              </a:rPr>
              <a:t>0.126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3387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4352"/>
                </a:solidFill>
                <a:latin typeface="Aptos"/>
              </a:rPr>
              <a:t>no_boots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40280" y="5852160"/>
            <a:ext cx="2971800" cy="210312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240280" y="5852160"/>
            <a:ext cx="0" cy="2103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49240" y="5815584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DC2626"/>
                </a:solidFill>
                <a:latin typeface="Aptos"/>
              </a:rPr>
              <a:t>0.000</a:t>
            </a:r>
          </a:p>
        </p:txBody>
      </p:sp>
      <p:pic>
        <p:nvPicPr>
          <p:cNvPr id="51" name="Picture 50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26080"/>
            <a:ext cx="4937760" cy="33832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446520" y="630936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Confusion matrix: head-region classes show cross-talk.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D2B"/>
                </a:solidFill>
                <a:latin typeface="Aptos"/>
              </a:rPr>
              <a:t>What success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Held-out validation example: the model correctly detects a typical, unoccluded worker.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pic>
        <p:nvPicPr>
          <p:cNvPr id="6" name="Picture 5" descr="success_case_helmet_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04088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41732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141732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554480"/>
            <a:ext cx="30449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D2B"/>
                </a:solidFill>
                <a:latin typeface="Aptos"/>
              </a:rPr>
              <a:t>GROUND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1947672"/>
            <a:ext cx="30449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74352"/>
                </a:solidFill>
                <a:latin typeface="Aptos"/>
              </a:rPr>
              <a:t>Person • helmet • vest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971800"/>
            <a:ext cx="3337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2971800"/>
            <a:ext cx="64008" cy="132588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3108960"/>
            <a:ext cx="30449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D2B"/>
                </a:solidFill>
                <a:latin typeface="Aptos"/>
              </a:rPr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3502152"/>
            <a:ext cx="304495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74352"/>
                </a:solidFill>
                <a:latin typeface="Aptos"/>
              </a:rPr>
              <a:t>Person 0.7 • helmet 0.9 • vest 0.9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5262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4526280"/>
            <a:ext cx="64008" cy="1234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4663440"/>
            <a:ext cx="30449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D2B"/>
                </a:solidFill>
                <a:latin typeface="Aptos"/>
              </a:rPr>
              <a:t>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5056632"/>
            <a:ext cx="304495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74352"/>
                </a:solidFill>
                <a:latin typeface="Aptos"/>
              </a:rPr>
              <a:t>All three main PPE classes are detected with high confidence and well-aligned boxes.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37960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PPE Compliance Checker • ITAI 1378 Computer Vision Capstone • Mary Ann Mastri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D2B"/>
                </a:solidFill>
                <a:latin typeface="Aptos"/>
              </a:rPr>
              <a:t>Failure mode #1: helmet ↔ goggles confusion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Small, visually similar head-region objects are difficult at 320px.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pic>
        <p:nvPicPr>
          <p:cNvPr id="6" name="Picture 5" descr="failure_case_helmet_goggles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08660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41732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1417320"/>
            <a:ext cx="64008" cy="14173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554480"/>
            <a:ext cx="30449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D2B"/>
                </a:solidFill>
                <a:latin typeface="Aptos"/>
              </a:rPr>
              <a:t>GROUND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5592" y="1947672"/>
            <a:ext cx="30449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74352"/>
                </a:solidFill>
                <a:latin typeface="Aptos"/>
              </a:rPr>
              <a:t>Person • helmet • vest • gloves ×2 • boots ×2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06324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306324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3200400"/>
            <a:ext cx="30449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D2B"/>
                </a:solidFill>
                <a:latin typeface="Aptos"/>
              </a:rPr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3593592"/>
            <a:ext cx="30449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74352"/>
                </a:solidFill>
                <a:latin typeface="Aptos"/>
              </a:rPr>
              <a:t>Person 0.8 • goggles 0.3 • vest • gloves 0.3 • boots 0.7/0.8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70916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4709160"/>
            <a:ext cx="6400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4846320"/>
            <a:ext cx="30449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1D2B"/>
                </a:solidFill>
                <a:latin typeface="Aptos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5239512"/>
            <a:ext cx="3044952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74352"/>
                </a:solidFill>
                <a:latin typeface="Aptos"/>
              </a:rPr>
              <a:t>Confusion matrix shows cross-talk in both directions.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D2B"/>
                </a:solidFill>
                <a:latin typeface="Aptos"/>
              </a:rPr>
              <a:t>Failure modes #2 &amp; #3: missed violations and domain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The most important limitation is not a cosmetic error — it can produce a false compliance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failure_case_missed_no_glo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394960" cy="2971800"/>
          </a:xfrm>
          <a:prstGeom prst="rect">
            <a:avLst/>
          </a:prstGeom>
        </p:spPr>
      </p:pic>
      <p:pic>
        <p:nvPicPr>
          <p:cNvPr id="7" name="Picture 6" descr="false_positive_helmet_on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394960" cy="2971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5262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526280"/>
            <a:ext cx="64008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466344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D2B"/>
                </a:solidFill>
                <a:latin typeface="Aptos"/>
              </a:rPr>
              <a:t>MISSED NO-GLOVES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5056632"/>
            <a:ext cx="496519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74352"/>
                </a:solidFill>
                <a:latin typeface="Aptos"/>
              </a:rPr>
              <a:t>Ground truth: no_gloves ×2. Prediction: Person only. no_gloves recall = 0.071; mAP50 = 0.126.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262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4526280"/>
            <a:ext cx="64008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4663440"/>
            <a:ext cx="4965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1D2B"/>
                </a:solidFill>
                <a:latin typeface="Aptos"/>
              </a:rPr>
              <a:t>OUT-OF-DOMAIN FALSE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5056632"/>
            <a:ext cx="4965192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74352"/>
                </a:solidFill>
                <a:latin typeface="Aptos"/>
              </a:rPr>
              <a:t>A stage light is labeled as a helmet. The model generalizes poorly outside construction imagery.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37960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PPE Compliance Checker • ITAI 1378 Computer Vision Capstone • Mary Ann Mastri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1D2B"/>
                </a:solidFill>
                <a:latin typeface="Aptos"/>
              </a:rPr>
              <a:t>Limitations, mitigations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The project is intentionally honest about what the current model can and cannot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4747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463039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D2B"/>
                </a:solidFill>
                <a:latin typeface="Aptos"/>
              </a:rPr>
              <a:t>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56231"/>
            <a:ext cx="31821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74352"/>
                </a:solidFill>
                <a:latin typeface="Aptos"/>
              </a:rPr>
              <a:t>Violation classes are under-trained; no_boots recall is 0.0 and no_gloves recall is 0.071.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6400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463039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D2B"/>
                </a:solidFill>
                <a:latin typeface="Aptos"/>
              </a:rPr>
              <a:t>MITIGATION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856231"/>
            <a:ext cx="31821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74352"/>
                </a:solidFill>
                <a:latin typeface="Aptos"/>
              </a:rPr>
              <a:t>Raise confidence thresholds, restrict deployment to in-domain imagery, and add stronger violation-focused evaluation.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325880"/>
            <a:ext cx="34747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325880"/>
            <a:ext cx="64008" cy="1554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1463039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D2B"/>
                </a:solidFill>
                <a:latin typeface="Aptos"/>
              </a:rPr>
              <a:t>NEXT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856231"/>
            <a:ext cx="318211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74352"/>
                </a:solidFill>
                <a:latin typeface="Aptos"/>
              </a:rPr>
              <a:t>Train longer at 640px with a stable GPU runtime; increase representation of missing-PPE examples.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461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D2B"/>
                </a:solidFill>
                <a:latin typeface="Aptos"/>
              </a:rPr>
              <a:t>Engineering priorities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63EB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65760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4352"/>
                </a:solidFill>
                <a:latin typeface="Aptos"/>
              </a:rPr>
              <a:t>Improve recall on explicit violations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24528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63EB"/>
                </a:solidFill>
                <a:latin typeface="Apto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224528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4352"/>
                </a:solidFill>
                <a:latin typeface="Aptos"/>
              </a:rPr>
              <a:t>Reduce helmet / goggles confusion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91456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63EB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791456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4352"/>
                </a:solidFill>
                <a:latin typeface="Aptos"/>
              </a:rPr>
              <a:t>Test more varied construction scenes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58383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363EB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358383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74352"/>
                </a:solidFill>
                <a:latin typeface="Aptos"/>
              </a:rPr>
              <a:t>Add threshold tuning and deployment guardrails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1D2B"/>
                </a:solidFill>
                <a:latin typeface="Aptos"/>
              </a:rPr>
              <a:t>Bottom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03320"/>
            <a:ext cx="36576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74352"/>
                </a:solidFill>
                <a:latin typeface="Aptos"/>
              </a:rPr>
              <a:t>A complete Tier-3 multi-agent pipeline was built and validated end-to-end. The next improvement should target violation recall, not just overall 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8869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From pixels to a safety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5448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AE6FD"/>
                </a:solidFill>
                <a:latin typeface="Aptos"/>
              </a:rPr>
              <a:t>Perception → Compliance reasoning → Actionable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3154680" cy="1554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9923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A5E9"/>
                </a:solidFill>
                <a:latin typeface="Aptos"/>
              </a:rP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4787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Find PPE and people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743200"/>
            <a:ext cx="3154680" cy="1554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99923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Aptos"/>
              </a:rPr>
              <a:t>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54787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Determine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743200"/>
            <a:ext cx="3154680" cy="15544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99923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Aptos"/>
              </a:rPr>
              <a:t>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54787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Communicate the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8978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Aptos"/>
              </a:rPr>
              <a:t>Source materials: project README • evaluation metrics • diagnostic plots • held-out examples • AI usage 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