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DA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95216D-095B-437F-84A7-EE0A904F1870}" v="244" dt="2026-07-04T02:40:14.8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75" autoAdjust="0"/>
    <p:restoredTop sz="94660"/>
  </p:normalViewPr>
  <p:slideViewPr>
    <p:cSldViewPr snapToGrid="0">
      <p:cViewPr varScale="1">
        <p:scale>
          <a:sx n="45" d="100"/>
          <a:sy n="45" d="100"/>
        </p:scale>
        <p:origin x="53" y="7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AD9DB99-1D04-4E2F-B542-45A6F20E9BCC}" type="doc">
      <dgm:prSet loTypeId="urn:microsoft.com/office/officeart/2008/layout/LinedList" loCatId="list" qsTypeId="urn:microsoft.com/office/officeart/2005/8/quickstyle/simple5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AC2B8525-4345-414D-8692-BC60DEBC62ED}">
      <dgm:prSet custT="1"/>
      <dgm:spPr/>
      <dgm:t>
        <a:bodyPr/>
        <a:lstStyle/>
        <a:p>
          <a:r>
            <a:rPr lang="en-US" sz="1400" b="1" dirty="0">
              <a:solidFill>
                <a:srgbClr val="0070C0"/>
              </a:solidFill>
            </a:rPr>
            <a:t>What real-world problem are we solving?</a:t>
          </a:r>
        </a:p>
        <a:p>
          <a:endParaRPr lang="en-US" sz="1400" b="1" dirty="0"/>
        </a:p>
        <a:p>
          <a:r>
            <a:rPr lang="en-US" sz="1200" b="0" dirty="0"/>
            <a:t>-  </a:t>
          </a:r>
          <a:r>
            <a:rPr lang="en-US" sz="1200" b="0"/>
            <a:t>Workers in </a:t>
          </a:r>
          <a:r>
            <a:rPr lang="en-US" sz="1200" b="0" dirty="0"/>
            <a:t>industrial settings do not always wear the required personal protective equipment (PPE), increasing the risk of workplace injuries. </a:t>
          </a:r>
        </a:p>
      </dgm:t>
    </dgm:pt>
    <dgm:pt modelId="{D1922CDF-A4DD-4A53-8820-3420FB2BA4E9}" type="parTrans" cxnId="{ADE26A10-2450-4A57-808F-0DF94B1CA67F}">
      <dgm:prSet/>
      <dgm:spPr/>
      <dgm:t>
        <a:bodyPr/>
        <a:lstStyle/>
        <a:p>
          <a:endParaRPr lang="en-US"/>
        </a:p>
      </dgm:t>
    </dgm:pt>
    <dgm:pt modelId="{BC3BEFF8-3071-430E-A32F-8F9142F1ADFC}" type="sibTrans" cxnId="{ADE26A10-2450-4A57-808F-0DF94B1CA67F}">
      <dgm:prSet/>
      <dgm:spPr/>
      <dgm:t>
        <a:bodyPr/>
        <a:lstStyle/>
        <a:p>
          <a:endParaRPr lang="en-US"/>
        </a:p>
      </dgm:t>
    </dgm:pt>
    <dgm:pt modelId="{E75795E9-FB72-49E1-8B19-A4F80E72A640}">
      <dgm:prSet custT="1"/>
      <dgm:spPr/>
      <dgm:t>
        <a:bodyPr/>
        <a:lstStyle/>
        <a:p>
          <a:r>
            <a:rPr lang="en-US" sz="1400" b="1" dirty="0">
              <a:solidFill>
                <a:srgbClr val="0070C0"/>
              </a:solidFill>
            </a:rPr>
            <a:t>Why is it important?</a:t>
          </a:r>
        </a:p>
        <a:p>
          <a:endParaRPr lang="en-US" sz="1200" b="1" dirty="0"/>
        </a:p>
        <a:p>
          <a:r>
            <a:rPr lang="en-US" sz="1200" b="1" dirty="0"/>
            <a:t>-  Reduce </a:t>
          </a:r>
          <a:r>
            <a:rPr lang="en-US" sz="1200" dirty="0"/>
            <a:t>workplace accidents</a:t>
          </a:r>
        </a:p>
        <a:p>
          <a:r>
            <a:rPr lang="en-US" sz="1200" b="1" dirty="0"/>
            <a:t>-  Improve</a:t>
          </a:r>
          <a:r>
            <a:rPr lang="en-US" sz="1200" dirty="0"/>
            <a:t> safety compliance </a:t>
          </a:r>
        </a:p>
        <a:p>
          <a:r>
            <a:rPr lang="en-US" sz="1200" b="1" dirty="0"/>
            <a:t>-  Lower </a:t>
          </a:r>
          <a:r>
            <a:rPr lang="en-US" sz="1200" dirty="0"/>
            <a:t>financial and legal risks </a:t>
          </a:r>
        </a:p>
      </dgm:t>
    </dgm:pt>
    <dgm:pt modelId="{982268DA-8709-459F-B557-ACA4B2686E31}" type="parTrans" cxnId="{0C9E4F3A-91A5-408C-B5E2-4F3C615F275C}">
      <dgm:prSet/>
      <dgm:spPr/>
      <dgm:t>
        <a:bodyPr/>
        <a:lstStyle/>
        <a:p>
          <a:endParaRPr lang="en-US"/>
        </a:p>
      </dgm:t>
    </dgm:pt>
    <dgm:pt modelId="{311B4AD0-8067-44B1-9480-B98F6525DFAC}" type="sibTrans" cxnId="{0C9E4F3A-91A5-408C-B5E2-4F3C615F275C}">
      <dgm:prSet/>
      <dgm:spPr/>
      <dgm:t>
        <a:bodyPr/>
        <a:lstStyle/>
        <a:p>
          <a:endParaRPr lang="en-US"/>
        </a:p>
      </dgm:t>
    </dgm:pt>
    <dgm:pt modelId="{D0C53CAA-CD4C-43BC-8147-E9389968E7B5}">
      <dgm:prSet custT="1"/>
      <dgm:spPr/>
      <dgm:t>
        <a:bodyPr/>
        <a:lstStyle/>
        <a:p>
          <a:r>
            <a:rPr lang="en-US" sz="1400" b="1" dirty="0">
              <a:solidFill>
                <a:srgbClr val="0070C0"/>
              </a:solidFill>
            </a:rPr>
            <a:t>Who cares? </a:t>
          </a:r>
        </a:p>
        <a:p>
          <a:endParaRPr lang="en-US" sz="1200" dirty="0"/>
        </a:p>
        <a:p>
          <a:r>
            <a:rPr lang="en-US" sz="1200" dirty="0"/>
            <a:t>-  Construction companies</a:t>
          </a:r>
        </a:p>
        <a:p>
          <a:r>
            <a:rPr lang="en-US" sz="1200" dirty="0"/>
            <a:t>-  Safety managers </a:t>
          </a:r>
        </a:p>
        <a:p>
          <a:r>
            <a:rPr lang="en-US" sz="1200" dirty="0"/>
            <a:t>-  Manufacturing facilities </a:t>
          </a:r>
        </a:p>
        <a:p>
          <a:r>
            <a:rPr lang="en-US" sz="1200" dirty="0"/>
            <a:t>-  OSHA inspectors  </a:t>
          </a:r>
        </a:p>
      </dgm:t>
    </dgm:pt>
    <dgm:pt modelId="{6A1C9C9C-8D31-4399-8D8B-9955A77F69D1}" type="sibTrans" cxnId="{071BA96A-17F8-451B-B329-A84294B93757}">
      <dgm:prSet/>
      <dgm:spPr/>
      <dgm:t>
        <a:bodyPr/>
        <a:lstStyle/>
        <a:p>
          <a:endParaRPr lang="en-US"/>
        </a:p>
      </dgm:t>
    </dgm:pt>
    <dgm:pt modelId="{7264E83C-AEA8-4610-8F87-A42E2C0A91C9}" type="parTrans" cxnId="{071BA96A-17F8-451B-B329-A84294B93757}">
      <dgm:prSet/>
      <dgm:spPr/>
      <dgm:t>
        <a:bodyPr/>
        <a:lstStyle/>
        <a:p>
          <a:endParaRPr lang="en-US"/>
        </a:p>
      </dgm:t>
    </dgm:pt>
    <dgm:pt modelId="{80740B4B-3758-47B1-8FA3-4A3D735DD994}" type="pres">
      <dgm:prSet presAssocID="{5AD9DB99-1D04-4E2F-B542-45A6F20E9BCC}" presName="vert0" presStyleCnt="0">
        <dgm:presLayoutVars>
          <dgm:dir/>
          <dgm:animOne val="branch"/>
          <dgm:animLvl val="lvl"/>
        </dgm:presLayoutVars>
      </dgm:prSet>
      <dgm:spPr/>
    </dgm:pt>
    <dgm:pt modelId="{C319E731-78BD-43D0-81DD-137C24F0265B}" type="pres">
      <dgm:prSet presAssocID="{AC2B8525-4345-414D-8692-BC60DEBC62ED}" presName="thickLine" presStyleLbl="alignNode1" presStyleIdx="0" presStyleCnt="3"/>
      <dgm:spPr/>
    </dgm:pt>
    <dgm:pt modelId="{78812B01-966E-47C3-B04C-38C46B699714}" type="pres">
      <dgm:prSet presAssocID="{AC2B8525-4345-414D-8692-BC60DEBC62ED}" presName="horz1" presStyleCnt="0"/>
      <dgm:spPr/>
    </dgm:pt>
    <dgm:pt modelId="{99CB5A3F-A0B3-4566-A936-82F12BC7C734}" type="pres">
      <dgm:prSet presAssocID="{AC2B8525-4345-414D-8692-BC60DEBC62ED}" presName="tx1" presStyleLbl="revTx" presStyleIdx="0" presStyleCnt="3"/>
      <dgm:spPr/>
    </dgm:pt>
    <dgm:pt modelId="{AACCE906-73F7-4051-94C3-C9D069585FD9}" type="pres">
      <dgm:prSet presAssocID="{AC2B8525-4345-414D-8692-BC60DEBC62ED}" presName="vert1" presStyleCnt="0"/>
      <dgm:spPr/>
    </dgm:pt>
    <dgm:pt modelId="{7310288A-5B45-469E-BD43-C01EB07D4961}" type="pres">
      <dgm:prSet presAssocID="{D0C53CAA-CD4C-43BC-8147-E9389968E7B5}" presName="thickLine" presStyleLbl="alignNode1" presStyleIdx="1" presStyleCnt="3"/>
      <dgm:spPr/>
    </dgm:pt>
    <dgm:pt modelId="{4447E765-1420-461D-AC81-73FAEBEE2BF1}" type="pres">
      <dgm:prSet presAssocID="{D0C53CAA-CD4C-43BC-8147-E9389968E7B5}" presName="horz1" presStyleCnt="0"/>
      <dgm:spPr/>
    </dgm:pt>
    <dgm:pt modelId="{D94D5BB3-80F5-45EE-B50E-FC79CFEDD6B0}" type="pres">
      <dgm:prSet presAssocID="{D0C53CAA-CD4C-43BC-8147-E9389968E7B5}" presName="tx1" presStyleLbl="revTx" presStyleIdx="1" presStyleCnt="3"/>
      <dgm:spPr/>
    </dgm:pt>
    <dgm:pt modelId="{4A51FBE5-448F-471B-BD0D-EE0C402C6D2D}" type="pres">
      <dgm:prSet presAssocID="{D0C53CAA-CD4C-43BC-8147-E9389968E7B5}" presName="vert1" presStyleCnt="0"/>
      <dgm:spPr/>
    </dgm:pt>
    <dgm:pt modelId="{08E3C327-462A-453C-8889-5601595553EA}" type="pres">
      <dgm:prSet presAssocID="{E75795E9-FB72-49E1-8B19-A4F80E72A640}" presName="thickLine" presStyleLbl="alignNode1" presStyleIdx="2" presStyleCnt="3"/>
      <dgm:spPr/>
    </dgm:pt>
    <dgm:pt modelId="{30469D52-579A-49E5-BC23-52ED2ABB8BC7}" type="pres">
      <dgm:prSet presAssocID="{E75795E9-FB72-49E1-8B19-A4F80E72A640}" presName="horz1" presStyleCnt="0"/>
      <dgm:spPr/>
    </dgm:pt>
    <dgm:pt modelId="{9B238D17-6887-40DA-AE82-9744E0A0A559}" type="pres">
      <dgm:prSet presAssocID="{E75795E9-FB72-49E1-8B19-A4F80E72A640}" presName="tx1" presStyleLbl="revTx" presStyleIdx="2" presStyleCnt="3"/>
      <dgm:spPr/>
    </dgm:pt>
    <dgm:pt modelId="{13542888-410B-4465-B9D6-9E80463696DD}" type="pres">
      <dgm:prSet presAssocID="{E75795E9-FB72-49E1-8B19-A4F80E72A640}" presName="vert1" presStyleCnt="0"/>
      <dgm:spPr/>
    </dgm:pt>
  </dgm:ptLst>
  <dgm:cxnLst>
    <dgm:cxn modelId="{ADE26A10-2450-4A57-808F-0DF94B1CA67F}" srcId="{5AD9DB99-1D04-4E2F-B542-45A6F20E9BCC}" destId="{AC2B8525-4345-414D-8692-BC60DEBC62ED}" srcOrd="0" destOrd="0" parTransId="{D1922CDF-A4DD-4A53-8820-3420FB2BA4E9}" sibTransId="{BC3BEFF8-3071-430E-A32F-8F9142F1ADFC}"/>
    <dgm:cxn modelId="{0C9E4F3A-91A5-408C-B5E2-4F3C615F275C}" srcId="{5AD9DB99-1D04-4E2F-B542-45A6F20E9BCC}" destId="{E75795E9-FB72-49E1-8B19-A4F80E72A640}" srcOrd="2" destOrd="0" parTransId="{982268DA-8709-459F-B557-ACA4B2686E31}" sibTransId="{311B4AD0-8067-44B1-9480-B98F6525DFAC}"/>
    <dgm:cxn modelId="{DD15474A-D290-477C-BB56-6FCE310D6CC2}" type="presOf" srcId="{AC2B8525-4345-414D-8692-BC60DEBC62ED}" destId="{99CB5A3F-A0B3-4566-A936-82F12BC7C734}" srcOrd="0" destOrd="0" presId="urn:microsoft.com/office/officeart/2008/layout/LinedList"/>
    <dgm:cxn modelId="{071BA96A-17F8-451B-B329-A84294B93757}" srcId="{5AD9DB99-1D04-4E2F-B542-45A6F20E9BCC}" destId="{D0C53CAA-CD4C-43BC-8147-E9389968E7B5}" srcOrd="1" destOrd="0" parTransId="{7264E83C-AEA8-4610-8F87-A42E2C0A91C9}" sibTransId="{6A1C9C9C-8D31-4399-8D8B-9955A77F69D1}"/>
    <dgm:cxn modelId="{5BD807A3-AF42-4E64-87C9-FAC830D146B4}" type="presOf" srcId="{E75795E9-FB72-49E1-8B19-A4F80E72A640}" destId="{9B238D17-6887-40DA-AE82-9744E0A0A559}" srcOrd="0" destOrd="0" presId="urn:microsoft.com/office/officeart/2008/layout/LinedList"/>
    <dgm:cxn modelId="{EA3A27E7-9BC1-4D29-8476-59A4ABED9A63}" type="presOf" srcId="{5AD9DB99-1D04-4E2F-B542-45A6F20E9BCC}" destId="{80740B4B-3758-47B1-8FA3-4A3D735DD994}" srcOrd="0" destOrd="0" presId="urn:microsoft.com/office/officeart/2008/layout/LinedList"/>
    <dgm:cxn modelId="{39B43BFD-04A8-42A5-B10D-117D3446F4F0}" type="presOf" srcId="{D0C53CAA-CD4C-43BC-8147-E9389968E7B5}" destId="{D94D5BB3-80F5-45EE-B50E-FC79CFEDD6B0}" srcOrd="0" destOrd="0" presId="urn:microsoft.com/office/officeart/2008/layout/LinedList"/>
    <dgm:cxn modelId="{EB11804C-68CC-421B-AF7D-984BB4ED104A}" type="presParOf" srcId="{80740B4B-3758-47B1-8FA3-4A3D735DD994}" destId="{C319E731-78BD-43D0-81DD-137C24F0265B}" srcOrd="0" destOrd="0" presId="urn:microsoft.com/office/officeart/2008/layout/LinedList"/>
    <dgm:cxn modelId="{18776B1E-66AA-4B90-9FEB-A003CCD471D1}" type="presParOf" srcId="{80740B4B-3758-47B1-8FA3-4A3D735DD994}" destId="{78812B01-966E-47C3-B04C-38C46B699714}" srcOrd="1" destOrd="0" presId="urn:microsoft.com/office/officeart/2008/layout/LinedList"/>
    <dgm:cxn modelId="{5D28F99D-BFCA-493D-9DC2-76FEC6046456}" type="presParOf" srcId="{78812B01-966E-47C3-B04C-38C46B699714}" destId="{99CB5A3F-A0B3-4566-A936-82F12BC7C734}" srcOrd="0" destOrd="0" presId="urn:microsoft.com/office/officeart/2008/layout/LinedList"/>
    <dgm:cxn modelId="{765D8829-62B6-48CA-8974-2B11320B2AED}" type="presParOf" srcId="{78812B01-966E-47C3-B04C-38C46B699714}" destId="{AACCE906-73F7-4051-94C3-C9D069585FD9}" srcOrd="1" destOrd="0" presId="urn:microsoft.com/office/officeart/2008/layout/LinedList"/>
    <dgm:cxn modelId="{2C59B1C1-AF52-4873-854C-F8FBC477A70C}" type="presParOf" srcId="{80740B4B-3758-47B1-8FA3-4A3D735DD994}" destId="{7310288A-5B45-469E-BD43-C01EB07D4961}" srcOrd="2" destOrd="0" presId="urn:microsoft.com/office/officeart/2008/layout/LinedList"/>
    <dgm:cxn modelId="{1B5EF355-A28B-466D-A60E-ED9644A6A4E0}" type="presParOf" srcId="{80740B4B-3758-47B1-8FA3-4A3D735DD994}" destId="{4447E765-1420-461D-AC81-73FAEBEE2BF1}" srcOrd="3" destOrd="0" presId="urn:microsoft.com/office/officeart/2008/layout/LinedList"/>
    <dgm:cxn modelId="{6BCEC19B-37D9-4C29-BC95-0D526B2E07DD}" type="presParOf" srcId="{4447E765-1420-461D-AC81-73FAEBEE2BF1}" destId="{D94D5BB3-80F5-45EE-B50E-FC79CFEDD6B0}" srcOrd="0" destOrd="0" presId="urn:microsoft.com/office/officeart/2008/layout/LinedList"/>
    <dgm:cxn modelId="{177039E6-DA0C-4A93-AA2A-F569D57ED496}" type="presParOf" srcId="{4447E765-1420-461D-AC81-73FAEBEE2BF1}" destId="{4A51FBE5-448F-471B-BD0D-EE0C402C6D2D}" srcOrd="1" destOrd="0" presId="urn:microsoft.com/office/officeart/2008/layout/LinedList"/>
    <dgm:cxn modelId="{F5C54249-577E-4893-964C-DBE562842A29}" type="presParOf" srcId="{80740B4B-3758-47B1-8FA3-4A3D735DD994}" destId="{08E3C327-462A-453C-8889-5601595553EA}" srcOrd="4" destOrd="0" presId="urn:microsoft.com/office/officeart/2008/layout/LinedList"/>
    <dgm:cxn modelId="{4D1B9A5B-4DA5-4B68-9758-7453632D0485}" type="presParOf" srcId="{80740B4B-3758-47B1-8FA3-4A3D735DD994}" destId="{30469D52-579A-49E5-BC23-52ED2ABB8BC7}" srcOrd="5" destOrd="0" presId="urn:microsoft.com/office/officeart/2008/layout/LinedList"/>
    <dgm:cxn modelId="{6F6A661E-93A8-4F47-9F5A-1A1E1542634A}" type="presParOf" srcId="{30469D52-579A-49E5-BC23-52ED2ABB8BC7}" destId="{9B238D17-6887-40DA-AE82-9744E0A0A559}" srcOrd="0" destOrd="0" presId="urn:microsoft.com/office/officeart/2008/layout/LinedList"/>
    <dgm:cxn modelId="{A7579906-2F5E-4091-B9E1-E5F0CFE9D886}" type="presParOf" srcId="{30469D52-579A-49E5-BC23-52ED2ABB8BC7}" destId="{13542888-410B-4465-B9D6-9E80463696D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151C303-74D4-45CF-9F8E-BD45B9A581D0}" type="doc">
      <dgm:prSet loTypeId="urn:microsoft.com/office/officeart/2008/layout/LinedList" loCatId="list" qsTypeId="urn:microsoft.com/office/officeart/2005/8/quickstyle/simple5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0B283825-2ECC-4C0F-ACBB-3FC1196E97B9}">
      <dgm:prSet custT="1"/>
      <dgm:spPr/>
      <dgm:t>
        <a:bodyPr/>
        <a:lstStyle/>
        <a:p>
          <a:r>
            <a:rPr lang="en-US" sz="1400" b="1" dirty="0">
              <a:solidFill>
                <a:srgbClr val="0070C0"/>
              </a:solidFill>
            </a:rPr>
            <a:t>What will our system do?</a:t>
          </a:r>
        </a:p>
        <a:p>
          <a:endParaRPr lang="en-US" sz="1200" b="1" dirty="0"/>
        </a:p>
        <a:p>
          <a:r>
            <a:rPr lang="en-US" sz="1200" dirty="0"/>
            <a:t>- Detect workers and PPE in images </a:t>
          </a:r>
        </a:p>
        <a:p>
          <a:r>
            <a:rPr lang="en-US" sz="1200" dirty="0"/>
            <a:t>- Identify helmets, safety vests, and goggles</a:t>
          </a:r>
        </a:p>
        <a:p>
          <a:r>
            <a:rPr lang="en-US" sz="1200" dirty="0"/>
            <a:t>- Determine whether each worker is compliant </a:t>
          </a:r>
        </a:p>
      </dgm:t>
    </dgm:pt>
    <dgm:pt modelId="{D34E901B-0906-41A3-BECA-1AFF0E62361F}" type="parTrans" cxnId="{4EB4502E-B6AD-48AD-A6C5-151AF52205C8}">
      <dgm:prSet/>
      <dgm:spPr/>
      <dgm:t>
        <a:bodyPr/>
        <a:lstStyle/>
        <a:p>
          <a:endParaRPr lang="en-US"/>
        </a:p>
      </dgm:t>
    </dgm:pt>
    <dgm:pt modelId="{28561452-375B-4087-BA61-E97893C5769A}" type="sibTrans" cxnId="{4EB4502E-B6AD-48AD-A6C5-151AF52205C8}">
      <dgm:prSet/>
      <dgm:spPr/>
      <dgm:t>
        <a:bodyPr/>
        <a:lstStyle/>
        <a:p>
          <a:endParaRPr lang="en-US"/>
        </a:p>
      </dgm:t>
    </dgm:pt>
    <dgm:pt modelId="{ACC96C85-CA87-4E72-A5A9-6DD0B1A3C6FB}">
      <dgm:prSet custT="1"/>
      <dgm:spPr/>
      <dgm:t>
        <a:bodyPr/>
        <a:lstStyle/>
        <a:p>
          <a:r>
            <a:rPr lang="en-US" sz="1400" b="1" dirty="0">
              <a:solidFill>
                <a:srgbClr val="0070C0"/>
              </a:solidFill>
            </a:rPr>
            <a:t>How will it solve the problem?</a:t>
          </a:r>
        </a:p>
        <a:p>
          <a:endParaRPr lang="en-US" sz="1200" b="1" dirty="0"/>
        </a:p>
        <a:p>
          <a:r>
            <a:rPr lang="en-US" sz="1200" dirty="0"/>
            <a:t>Image → YOLO11 → Detect PPE → Compliance Check </a:t>
          </a:r>
        </a:p>
        <a:p>
          <a:r>
            <a:rPr lang="en-US" sz="2400" dirty="0"/>
            <a:t>📷 → 🤖 → 🦺 → ✅</a:t>
          </a:r>
        </a:p>
      </dgm:t>
    </dgm:pt>
    <dgm:pt modelId="{03268D74-A81D-4643-8D53-BCD369319E16}" type="parTrans" cxnId="{D3DD0890-24AB-427E-BD54-6AE509EF7BC9}">
      <dgm:prSet/>
      <dgm:spPr/>
      <dgm:t>
        <a:bodyPr/>
        <a:lstStyle/>
        <a:p>
          <a:endParaRPr lang="en-US"/>
        </a:p>
      </dgm:t>
    </dgm:pt>
    <dgm:pt modelId="{09C1DC02-D957-4A08-B06C-6970B6A55095}" type="sibTrans" cxnId="{D3DD0890-24AB-427E-BD54-6AE509EF7BC9}">
      <dgm:prSet/>
      <dgm:spPr/>
      <dgm:t>
        <a:bodyPr/>
        <a:lstStyle/>
        <a:p>
          <a:endParaRPr lang="en-US"/>
        </a:p>
      </dgm:t>
    </dgm:pt>
    <dgm:pt modelId="{D249AE9A-72D8-4DC8-9C31-690D8CD5FC41}">
      <dgm:prSet custT="1"/>
      <dgm:spPr/>
      <dgm:t>
        <a:bodyPr/>
        <a:lstStyle/>
        <a:p>
          <a:r>
            <a:rPr lang="en-US" sz="1400" b="1" dirty="0">
              <a:solidFill>
                <a:srgbClr val="0070C0"/>
              </a:solidFill>
            </a:rPr>
            <a:t>One-sentence description</a:t>
          </a:r>
        </a:p>
        <a:p>
          <a:endParaRPr lang="en-US" sz="1200" b="1" dirty="0"/>
        </a:p>
        <a:p>
          <a:r>
            <a:rPr lang="en-US" sz="1200" b="0" dirty="0"/>
            <a:t>An AI-powered system that automatically detects whether construction workers are wearing the required PPE using YOLO11 object detection. </a:t>
          </a:r>
        </a:p>
      </dgm:t>
    </dgm:pt>
    <dgm:pt modelId="{DB2063D4-F700-42AE-9B20-B0D229ED73B1}" type="parTrans" cxnId="{235E08FA-2D65-4D44-9CC6-9B96EFA5CC0A}">
      <dgm:prSet/>
      <dgm:spPr/>
      <dgm:t>
        <a:bodyPr/>
        <a:lstStyle/>
        <a:p>
          <a:endParaRPr lang="en-US"/>
        </a:p>
      </dgm:t>
    </dgm:pt>
    <dgm:pt modelId="{26D04D55-CF8E-41C9-9879-1FE253527346}" type="sibTrans" cxnId="{235E08FA-2D65-4D44-9CC6-9B96EFA5CC0A}">
      <dgm:prSet/>
      <dgm:spPr/>
      <dgm:t>
        <a:bodyPr/>
        <a:lstStyle/>
        <a:p>
          <a:endParaRPr lang="en-US"/>
        </a:p>
      </dgm:t>
    </dgm:pt>
    <dgm:pt modelId="{AF795996-348F-4D12-922C-D8FD40208669}" type="pres">
      <dgm:prSet presAssocID="{C151C303-74D4-45CF-9F8E-BD45B9A581D0}" presName="vert0" presStyleCnt="0">
        <dgm:presLayoutVars>
          <dgm:dir/>
          <dgm:animOne val="branch"/>
          <dgm:animLvl val="lvl"/>
        </dgm:presLayoutVars>
      </dgm:prSet>
      <dgm:spPr/>
    </dgm:pt>
    <dgm:pt modelId="{B09569A3-73AE-40EA-970A-4D0A7780214C}" type="pres">
      <dgm:prSet presAssocID="{0B283825-2ECC-4C0F-ACBB-3FC1196E97B9}" presName="thickLine" presStyleLbl="alignNode1" presStyleIdx="0" presStyleCnt="3"/>
      <dgm:spPr/>
    </dgm:pt>
    <dgm:pt modelId="{42C18A0A-D9D6-43AF-957E-988A1C453785}" type="pres">
      <dgm:prSet presAssocID="{0B283825-2ECC-4C0F-ACBB-3FC1196E97B9}" presName="horz1" presStyleCnt="0"/>
      <dgm:spPr/>
    </dgm:pt>
    <dgm:pt modelId="{2864CBC3-C455-4994-99D8-D2A06D331D19}" type="pres">
      <dgm:prSet presAssocID="{0B283825-2ECC-4C0F-ACBB-3FC1196E97B9}" presName="tx1" presStyleLbl="revTx" presStyleIdx="0" presStyleCnt="3"/>
      <dgm:spPr/>
    </dgm:pt>
    <dgm:pt modelId="{5F4533D0-E505-4CB1-BA1F-5A715908470C}" type="pres">
      <dgm:prSet presAssocID="{0B283825-2ECC-4C0F-ACBB-3FC1196E97B9}" presName="vert1" presStyleCnt="0"/>
      <dgm:spPr/>
    </dgm:pt>
    <dgm:pt modelId="{1C262780-D710-4AD6-ABDF-43510EFB8997}" type="pres">
      <dgm:prSet presAssocID="{ACC96C85-CA87-4E72-A5A9-6DD0B1A3C6FB}" presName="thickLine" presStyleLbl="alignNode1" presStyleIdx="1" presStyleCnt="3"/>
      <dgm:spPr/>
    </dgm:pt>
    <dgm:pt modelId="{B62BD270-BE82-4FDE-AD84-CA97CFE0BD57}" type="pres">
      <dgm:prSet presAssocID="{ACC96C85-CA87-4E72-A5A9-6DD0B1A3C6FB}" presName="horz1" presStyleCnt="0"/>
      <dgm:spPr/>
    </dgm:pt>
    <dgm:pt modelId="{6252AB3B-E3A9-4655-841A-4317181974B8}" type="pres">
      <dgm:prSet presAssocID="{ACC96C85-CA87-4E72-A5A9-6DD0B1A3C6FB}" presName="tx1" presStyleLbl="revTx" presStyleIdx="1" presStyleCnt="3"/>
      <dgm:spPr/>
    </dgm:pt>
    <dgm:pt modelId="{B95013DC-A89E-4E63-968A-E9241EE4017C}" type="pres">
      <dgm:prSet presAssocID="{ACC96C85-CA87-4E72-A5A9-6DD0B1A3C6FB}" presName="vert1" presStyleCnt="0"/>
      <dgm:spPr/>
    </dgm:pt>
    <dgm:pt modelId="{A238CC50-5FE3-4C24-AFC4-D46FF54B7F2C}" type="pres">
      <dgm:prSet presAssocID="{D249AE9A-72D8-4DC8-9C31-690D8CD5FC41}" presName="thickLine" presStyleLbl="alignNode1" presStyleIdx="2" presStyleCnt="3"/>
      <dgm:spPr/>
    </dgm:pt>
    <dgm:pt modelId="{EFCB5592-3951-4AE5-8296-7FAB40DC7941}" type="pres">
      <dgm:prSet presAssocID="{D249AE9A-72D8-4DC8-9C31-690D8CD5FC41}" presName="horz1" presStyleCnt="0"/>
      <dgm:spPr/>
    </dgm:pt>
    <dgm:pt modelId="{B619C353-E617-49FB-A55E-853D2D7DF217}" type="pres">
      <dgm:prSet presAssocID="{D249AE9A-72D8-4DC8-9C31-690D8CD5FC41}" presName="tx1" presStyleLbl="revTx" presStyleIdx="2" presStyleCnt="3"/>
      <dgm:spPr/>
    </dgm:pt>
    <dgm:pt modelId="{ED3DF61D-77A3-4876-88B3-F9AA1C47AC61}" type="pres">
      <dgm:prSet presAssocID="{D249AE9A-72D8-4DC8-9C31-690D8CD5FC41}" presName="vert1" presStyleCnt="0"/>
      <dgm:spPr/>
    </dgm:pt>
  </dgm:ptLst>
  <dgm:cxnLst>
    <dgm:cxn modelId="{DEC76200-7530-45DD-833D-B651FD9C783F}" type="presOf" srcId="{0B283825-2ECC-4C0F-ACBB-3FC1196E97B9}" destId="{2864CBC3-C455-4994-99D8-D2A06D331D19}" srcOrd="0" destOrd="0" presId="urn:microsoft.com/office/officeart/2008/layout/LinedList"/>
    <dgm:cxn modelId="{6224D41D-ADDD-45B6-91B8-F2D4B0F14D1A}" type="presOf" srcId="{ACC96C85-CA87-4E72-A5A9-6DD0B1A3C6FB}" destId="{6252AB3B-E3A9-4655-841A-4317181974B8}" srcOrd="0" destOrd="0" presId="urn:microsoft.com/office/officeart/2008/layout/LinedList"/>
    <dgm:cxn modelId="{4EB4502E-B6AD-48AD-A6C5-151AF52205C8}" srcId="{C151C303-74D4-45CF-9F8E-BD45B9A581D0}" destId="{0B283825-2ECC-4C0F-ACBB-3FC1196E97B9}" srcOrd="0" destOrd="0" parTransId="{D34E901B-0906-41A3-BECA-1AFF0E62361F}" sibTransId="{28561452-375B-4087-BA61-E97893C5769A}"/>
    <dgm:cxn modelId="{D3DD0890-24AB-427E-BD54-6AE509EF7BC9}" srcId="{C151C303-74D4-45CF-9F8E-BD45B9A581D0}" destId="{ACC96C85-CA87-4E72-A5A9-6DD0B1A3C6FB}" srcOrd="1" destOrd="0" parTransId="{03268D74-A81D-4643-8D53-BCD369319E16}" sibTransId="{09C1DC02-D957-4A08-B06C-6970B6A55095}"/>
    <dgm:cxn modelId="{C31BD4AC-A047-4508-B246-169CCA26A84E}" type="presOf" srcId="{C151C303-74D4-45CF-9F8E-BD45B9A581D0}" destId="{AF795996-348F-4D12-922C-D8FD40208669}" srcOrd="0" destOrd="0" presId="urn:microsoft.com/office/officeart/2008/layout/LinedList"/>
    <dgm:cxn modelId="{9F5152DC-1D6E-4D42-8A08-C6C83C136C15}" type="presOf" srcId="{D249AE9A-72D8-4DC8-9C31-690D8CD5FC41}" destId="{B619C353-E617-49FB-A55E-853D2D7DF217}" srcOrd="0" destOrd="0" presId="urn:microsoft.com/office/officeart/2008/layout/LinedList"/>
    <dgm:cxn modelId="{235E08FA-2D65-4D44-9CC6-9B96EFA5CC0A}" srcId="{C151C303-74D4-45CF-9F8E-BD45B9A581D0}" destId="{D249AE9A-72D8-4DC8-9C31-690D8CD5FC41}" srcOrd="2" destOrd="0" parTransId="{DB2063D4-F700-42AE-9B20-B0D229ED73B1}" sibTransId="{26D04D55-CF8E-41C9-9879-1FE253527346}"/>
    <dgm:cxn modelId="{50858435-4A28-4810-A41C-2D13FBF7B6C0}" type="presParOf" srcId="{AF795996-348F-4D12-922C-D8FD40208669}" destId="{B09569A3-73AE-40EA-970A-4D0A7780214C}" srcOrd="0" destOrd="0" presId="urn:microsoft.com/office/officeart/2008/layout/LinedList"/>
    <dgm:cxn modelId="{63CF06B7-EC36-44EE-B422-BD67399C1798}" type="presParOf" srcId="{AF795996-348F-4D12-922C-D8FD40208669}" destId="{42C18A0A-D9D6-43AF-957E-988A1C453785}" srcOrd="1" destOrd="0" presId="urn:microsoft.com/office/officeart/2008/layout/LinedList"/>
    <dgm:cxn modelId="{551CCE80-1746-4907-B8B9-53FB8EC90D99}" type="presParOf" srcId="{42C18A0A-D9D6-43AF-957E-988A1C453785}" destId="{2864CBC3-C455-4994-99D8-D2A06D331D19}" srcOrd="0" destOrd="0" presId="urn:microsoft.com/office/officeart/2008/layout/LinedList"/>
    <dgm:cxn modelId="{54933463-DFD8-4E21-B0A7-B4EFE7AAD316}" type="presParOf" srcId="{42C18A0A-D9D6-43AF-957E-988A1C453785}" destId="{5F4533D0-E505-4CB1-BA1F-5A715908470C}" srcOrd="1" destOrd="0" presId="urn:microsoft.com/office/officeart/2008/layout/LinedList"/>
    <dgm:cxn modelId="{C770D984-E227-46DF-A2E1-EC1A254227BA}" type="presParOf" srcId="{AF795996-348F-4D12-922C-D8FD40208669}" destId="{1C262780-D710-4AD6-ABDF-43510EFB8997}" srcOrd="2" destOrd="0" presId="urn:microsoft.com/office/officeart/2008/layout/LinedList"/>
    <dgm:cxn modelId="{F72826FC-6EB6-4BCD-A412-7E075B595464}" type="presParOf" srcId="{AF795996-348F-4D12-922C-D8FD40208669}" destId="{B62BD270-BE82-4FDE-AD84-CA97CFE0BD57}" srcOrd="3" destOrd="0" presId="urn:microsoft.com/office/officeart/2008/layout/LinedList"/>
    <dgm:cxn modelId="{366A2055-6B78-4CF3-A706-818E7863F5FB}" type="presParOf" srcId="{B62BD270-BE82-4FDE-AD84-CA97CFE0BD57}" destId="{6252AB3B-E3A9-4655-841A-4317181974B8}" srcOrd="0" destOrd="0" presId="urn:microsoft.com/office/officeart/2008/layout/LinedList"/>
    <dgm:cxn modelId="{C51EE52E-CEDB-4B7A-BF2E-158729E75BC4}" type="presParOf" srcId="{B62BD270-BE82-4FDE-AD84-CA97CFE0BD57}" destId="{B95013DC-A89E-4E63-968A-E9241EE4017C}" srcOrd="1" destOrd="0" presId="urn:microsoft.com/office/officeart/2008/layout/LinedList"/>
    <dgm:cxn modelId="{3B4FAB4E-0C3D-4189-9298-614227A562A3}" type="presParOf" srcId="{AF795996-348F-4D12-922C-D8FD40208669}" destId="{A238CC50-5FE3-4C24-AFC4-D46FF54B7F2C}" srcOrd="4" destOrd="0" presId="urn:microsoft.com/office/officeart/2008/layout/LinedList"/>
    <dgm:cxn modelId="{AD2F2916-F98A-4C12-B10E-1623AED5417F}" type="presParOf" srcId="{AF795996-348F-4D12-922C-D8FD40208669}" destId="{EFCB5592-3951-4AE5-8296-7FAB40DC7941}" srcOrd="5" destOrd="0" presId="urn:microsoft.com/office/officeart/2008/layout/LinedList"/>
    <dgm:cxn modelId="{5F975856-E21E-4789-9C79-D4967D249590}" type="presParOf" srcId="{EFCB5592-3951-4AE5-8296-7FAB40DC7941}" destId="{B619C353-E617-49FB-A55E-853D2D7DF217}" srcOrd="0" destOrd="0" presId="urn:microsoft.com/office/officeart/2008/layout/LinedList"/>
    <dgm:cxn modelId="{6BA534CF-BD7F-4BCB-8373-063E0BF070BC}" type="presParOf" srcId="{EFCB5592-3951-4AE5-8296-7FAB40DC7941}" destId="{ED3DF61D-77A3-4876-88B3-F9AA1C47AC6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A1B539D-7CAA-43C1-BA42-906B193014EA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59EE9B0-8CFB-4FC1-8523-9C8882E013F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>
              <a:solidFill>
                <a:srgbClr val="0070C0"/>
              </a:solidFill>
            </a:rPr>
            <a:t>Computer Vision Technique: </a:t>
          </a:r>
          <a:r>
            <a:rPr lang="en-US" dirty="0"/>
            <a:t>Object Detection</a:t>
          </a:r>
        </a:p>
      </dgm:t>
    </dgm:pt>
    <dgm:pt modelId="{95D9BB9A-73F9-478E-B4B9-C34865AB1413}" type="parTrans" cxnId="{E8662AFA-C6DA-473E-B732-C3C6237F34D9}">
      <dgm:prSet/>
      <dgm:spPr/>
      <dgm:t>
        <a:bodyPr/>
        <a:lstStyle/>
        <a:p>
          <a:endParaRPr lang="en-US"/>
        </a:p>
      </dgm:t>
    </dgm:pt>
    <dgm:pt modelId="{EC4B7899-A897-4776-936B-42C590FF07A9}" type="sibTrans" cxnId="{E8662AFA-C6DA-473E-B732-C3C6237F34D9}">
      <dgm:prSet/>
      <dgm:spPr/>
      <dgm:t>
        <a:bodyPr/>
        <a:lstStyle/>
        <a:p>
          <a:endParaRPr lang="en-US"/>
        </a:p>
      </dgm:t>
    </dgm:pt>
    <dgm:pt modelId="{8CDFE215-2A5F-46E3-B8CE-02E1E94144F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>
              <a:solidFill>
                <a:srgbClr val="0070C0"/>
              </a:solidFill>
            </a:rPr>
            <a:t>Model: </a:t>
          </a:r>
          <a:r>
            <a:rPr lang="en-US" dirty="0"/>
            <a:t>YOLO11</a:t>
          </a:r>
        </a:p>
      </dgm:t>
    </dgm:pt>
    <dgm:pt modelId="{E6E9D7FA-3653-4C1E-B45A-969DA88CFC7D}" type="parTrans" cxnId="{D210753E-4926-4FAC-9F08-C88E15FD743E}">
      <dgm:prSet/>
      <dgm:spPr/>
      <dgm:t>
        <a:bodyPr/>
        <a:lstStyle/>
        <a:p>
          <a:endParaRPr lang="en-US"/>
        </a:p>
      </dgm:t>
    </dgm:pt>
    <dgm:pt modelId="{659E4277-203D-4B1B-A4C6-1B0D25798F88}" type="sibTrans" cxnId="{D210753E-4926-4FAC-9F08-C88E15FD743E}">
      <dgm:prSet/>
      <dgm:spPr/>
      <dgm:t>
        <a:bodyPr/>
        <a:lstStyle/>
        <a:p>
          <a:endParaRPr lang="en-US"/>
        </a:p>
      </dgm:t>
    </dgm:pt>
    <dgm:pt modelId="{FC53987B-84E3-4162-BD91-B99F42F599D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>
              <a:solidFill>
                <a:srgbClr val="0070C0"/>
              </a:solidFill>
            </a:rPr>
            <a:t>Framework: </a:t>
          </a:r>
          <a:r>
            <a:rPr lang="en-US" dirty="0" err="1"/>
            <a:t>PyTorch</a:t>
          </a:r>
          <a:r>
            <a:rPr lang="en-US" dirty="0"/>
            <a:t>/</a:t>
          </a:r>
          <a:r>
            <a:rPr lang="en-US" dirty="0" err="1"/>
            <a:t>Ultralytics</a:t>
          </a:r>
          <a:r>
            <a:rPr lang="en-US" dirty="0"/>
            <a:t> </a:t>
          </a:r>
        </a:p>
      </dgm:t>
    </dgm:pt>
    <dgm:pt modelId="{38413EF2-7973-4B0C-8E55-FBDF51B7566F}" type="parTrans" cxnId="{AF343BB1-D57B-4EE0-B24D-8324942F2145}">
      <dgm:prSet/>
      <dgm:spPr/>
      <dgm:t>
        <a:bodyPr/>
        <a:lstStyle/>
        <a:p>
          <a:endParaRPr lang="en-US"/>
        </a:p>
      </dgm:t>
    </dgm:pt>
    <dgm:pt modelId="{D61E2628-15D7-4B79-99E8-E29871E05E19}" type="sibTrans" cxnId="{AF343BB1-D57B-4EE0-B24D-8324942F2145}">
      <dgm:prSet/>
      <dgm:spPr/>
      <dgm:t>
        <a:bodyPr/>
        <a:lstStyle/>
        <a:p>
          <a:endParaRPr lang="en-US"/>
        </a:p>
      </dgm:t>
    </dgm:pt>
    <dgm:pt modelId="{9AB70EB9-DB17-4D40-86ED-035B950F016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>
              <a:solidFill>
                <a:srgbClr val="0070C0"/>
              </a:solidFill>
            </a:rPr>
            <a:t>Dataset: </a:t>
          </a:r>
          <a:r>
            <a:rPr lang="en-US" dirty="0" err="1"/>
            <a:t>Roboflow</a:t>
          </a:r>
          <a:r>
            <a:rPr lang="en-US" dirty="0"/>
            <a:t> + Kaggle    </a:t>
          </a:r>
        </a:p>
      </dgm:t>
    </dgm:pt>
    <dgm:pt modelId="{BD529B51-084A-4956-915B-6315FCF53289}" type="parTrans" cxnId="{46E6F07B-C3AA-4124-8067-BE4B5DFC009D}">
      <dgm:prSet/>
      <dgm:spPr/>
      <dgm:t>
        <a:bodyPr/>
        <a:lstStyle/>
        <a:p>
          <a:endParaRPr lang="en-US"/>
        </a:p>
      </dgm:t>
    </dgm:pt>
    <dgm:pt modelId="{09C183D2-962F-474F-83D7-BE13CC5A4549}" type="sibTrans" cxnId="{46E6F07B-C3AA-4124-8067-BE4B5DFC009D}">
      <dgm:prSet/>
      <dgm:spPr/>
      <dgm:t>
        <a:bodyPr/>
        <a:lstStyle/>
        <a:p>
          <a:endParaRPr lang="en-US"/>
        </a:p>
      </dgm:t>
    </dgm:pt>
    <dgm:pt modelId="{46990C41-11F9-44DB-BA5C-FF9991334AEE}" type="pres">
      <dgm:prSet presAssocID="{BA1B539D-7CAA-43C1-BA42-906B193014EA}" presName="vert0" presStyleCnt="0">
        <dgm:presLayoutVars>
          <dgm:dir/>
          <dgm:animOne val="branch"/>
          <dgm:animLvl val="lvl"/>
        </dgm:presLayoutVars>
      </dgm:prSet>
      <dgm:spPr/>
    </dgm:pt>
    <dgm:pt modelId="{9D182178-EFD3-4E77-97E5-0A6B4A938CC2}" type="pres">
      <dgm:prSet presAssocID="{259EE9B0-8CFB-4FC1-8523-9C8882E013F1}" presName="thickLine" presStyleLbl="alignNode1" presStyleIdx="0" presStyleCnt="4"/>
      <dgm:spPr/>
    </dgm:pt>
    <dgm:pt modelId="{2EF9DC5F-E5E1-4BCC-92C2-E50D980DECBF}" type="pres">
      <dgm:prSet presAssocID="{259EE9B0-8CFB-4FC1-8523-9C8882E013F1}" presName="horz1" presStyleCnt="0"/>
      <dgm:spPr/>
    </dgm:pt>
    <dgm:pt modelId="{209F479D-183B-4E5B-A8EF-177D378D04D8}" type="pres">
      <dgm:prSet presAssocID="{259EE9B0-8CFB-4FC1-8523-9C8882E013F1}" presName="tx1" presStyleLbl="revTx" presStyleIdx="0" presStyleCnt="4"/>
      <dgm:spPr/>
    </dgm:pt>
    <dgm:pt modelId="{579DB5BD-6AD3-40F5-AC79-11B9942A64DA}" type="pres">
      <dgm:prSet presAssocID="{259EE9B0-8CFB-4FC1-8523-9C8882E013F1}" presName="vert1" presStyleCnt="0"/>
      <dgm:spPr/>
    </dgm:pt>
    <dgm:pt modelId="{589E040A-D6E2-4D0B-99CC-A6FFF27E8A8F}" type="pres">
      <dgm:prSet presAssocID="{8CDFE215-2A5F-46E3-B8CE-02E1E94144FD}" presName="thickLine" presStyleLbl="alignNode1" presStyleIdx="1" presStyleCnt="4"/>
      <dgm:spPr/>
    </dgm:pt>
    <dgm:pt modelId="{2F68EC27-8FF6-4014-A1C0-749965D4E225}" type="pres">
      <dgm:prSet presAssocID="{8CDFE215-2A5F-46E3-B8CE-02E1E94144FD}" presName="horz1" presStyleCnt="0"/>
      <dgm:spPr/>
    </dgm:pt>
    <dgm:pt modelId="{1C055A69-00A4-441C-998A-D191E65016CF}" type="pres">
      <dgm:prSet presAssocID="{8CDFE215-2A5F-46E3-B8CE-02E1E94144FD}" presName="tx1" presStyleLbl="revTx" presStyleIdx="1" presStyleCnt="4"/>
      <dgm:spPr/>
    </dgm:pt>
    <dgm:pt modelId="{D61C22BA-17D6-474E-83DC-109BE1286388}" type="pres">
      <dgm:prSet presAssocID="{8CDFE215-2A5F-46E3-B8CE-02E1E94144FD}" presName="vert1" presStyleCnt="0"/>
      <dgm:spPr/>
    </dgm:pt>
    <dgm:pt modelId="{8BDD5D4F-3DD4-4905-B4E3-E64E5493DFDE}" type="pres">
      <dgm:prSet presAssocID="{FC53987B-84E3-4162-BD91-B99F42F599D1}" presName="thickLine" presStyleLbl="alignNode1" presStyleIdx="2" presStyleCnt="4"/>
      <dgm:spPr/>
    </dgm:pt>
    <dgm:pt modelId="{722E257E-C417-4477-BEFE-B67C9728F7D3}" type="pres">
      <dgm:prSet presAssocID="{FC53987B-84E3-4162-BD91-B99F42F599D1}" presName="horz1" presStyleCnt="0"/>
      <dgm:spPr/>
    </dgm:pt>
    <dgm:pt modelId="{308CAFC6-1A3F-4F8E-9304-E5C4EBFF8E89}" type="pres">
      <dgm:prSet presAssocID="{FC53987B-84E3-4162-BD91-B99F42F599D1}" presName="tx1" presStyleLbl="revTx" presStyleIdx="2" presStyleCnt="4"/>
      <dgm:spPr/>
    </dgm:pt>
    <dgm:pt modelId="{BACB5ECE-9C67-4C60-A7EB-F7A730A344D2}" type="pres">
      <dgm:prSet presAssocID="{FC53987B-84E3-4162-BD91-B99F42F599D1}" presName="vert1" presStyleCnt="0"/>
      <dgm:spPr/>
    </dgm:pt>
    <dgm:pt modelId="{9EBDC1A1-A4F4-4589-9B60-7991F9A5238C}" type="pres">
      <dgm:prSet presAssocID="{9AB70EB9-DB17-4D40-86ED-035B950F0160}" presName="thickLine" presStyleLbl="alignNode1" presStyleIdx="3" presStyleCnt="4"/>
      <dgm:spPr/>
    </dgm:pt>
    <dgm:pt modelId="{27E3916D-5F5E-4931-A6E7-79C010BA25C6}" type="pres">
      <dgm:prSet presAssocID="{9AB70EB9-DB17-4D40-86ED-035B950F0160}" presName="horz1" presStyleCnt="0"/>
      <dgm:spPr/>
    </dgm:pt>
    <dgm:pt modelId="{1992427F-2D7A-48A4-961B-A8A17AB071F5}" type="pres">
      <dgm:prSet presAssocID="{9AB70EB9-DB17-4D40-86ED-035B950F0160}" presName="tx1" presStyleLbl="revTx" presStyleIdx="3" presStyleCnt="4"/>
      <dgm:spPr/>
    </dgm:pt>
    <dgm:pt modelId="{2909CF3E-7E9B-4A21-8E3D-5E2792506593}" type="pres">
      <dgm:prSet presAssocID="{9AB70EB9-DB17-4D40-86ED-035B950F0160}" presName="vert1" presStyleCnt="0"/>
      <dgm:spPr/>
    </dgm:pt>
  </dgm:ptLst>
  <dgm:cxnLst>
    <dgm:cxn modelId="{C1EA8527-E8EF-4ADE-8E24-3099D2DAB222}" type="presOf" srcId="{BA1B539D-7CAA-43C1-BA42-906B193014EA}" destId="{46990C41-11F9-44DB-BA5C-FF9991334AEE}" srcOrd="0" destOrd="0" presId="urn:microsoft.com/office/officeart/2008/layout/LinedList"/>
    <dgm:cxn modelId="{D210753E-4926-4FAC-9F08-C88E15FD743E}" srcId="{BA1B539D-7CAA-43C1-BA42-906B193014EA}" destId="{8CDFE215-2A5F-46E3-B8CE-02E1E94144FD}" srcOrd="1" destOrd="0" parTransId="{E6E9D7FA-3653-4C1E-B45A-969DA88CFC7D}" sibTransId="{659E4277-203D-4B1B-A4C6-1B0D25798F88}"/>
    <dgm:cxn modelId="{46E6F07B-C3AA-4124-8067-BE4B5DFC009D}" srcId="{BA1B539D-7CAA-43C1-BA42-906B193014EA}" destId="{9AB70EB9-DB17-4D40-86ED-035B950F0160}" srcOrd="3" destOrd="0" parTransId="{BD529B51-084A-4956-915B-6315FCF53289}" sibTransId="{09C183D2-962F-474F-83D7-BE13CC5A4549}"/>
    <dgm:cxn modelId="{AF343BB1-D57B-4EE0-B24D-8324942F2145}" srcId="{BA1B539D-7CAA-43C1-BA42-906B193014EA}" destId="{FC53987B-84E3-4162-BD91-B99F42F599D1}" srcOrd="2" destOrd="0" parTransId="{38413EF2-7973-4B0C-8E55-FBDF51B7566F}" sibTransId="{D61E2628-15D7-4B79-99E8-E29871E05E19}"/>
    <dgm:cxn modelId="{D0FE22B3-C1C1-4083-9087-077286148EDE}" type="presOf" srcId="{9AB70EB9-DB17-4D40-86ED-035B950F0160}" destId="{1992427F-2D7A-48A4-961B-A8A17AB071F5}" srcOrd="0" destOrd="0" presId="urn:microsoft.com/office/officeart/2008/layout/LinedList"/>
    <dgm:cxn modelId="{374985C2-8216-4935-9E39-7D06070C0FB6}" type="presOf" srcId="{8CDFE215-2A5F-46E3-B8CE-02E1E94144FD}" destId="{1C055A69-00A4-441C-998A-D191E65016CF}" srcOrd="0" destOrd="0" presId="urn:microsoft.com/office/officeart/2008/layout/LinedList"/>
    <dgm:cxn modelId="{43017FC3-A7B1-485F-80AE-72562D66819F}" type="presOf" srcId="{259EE9B0-8CFB-4FC1-8523-9C8882E013F1}" destId="{209F479D-183B-4E5B-A8EF-177D378D04D8}" srcOrd="0" destOrd="0" presId="urn:microsoft.com/office/officeart/2008/layout/LinedList"/>
    <dgm:cxn modelId="{B2870DF1-7804-44B8-A708-2EF6DD8EBA65}" type="presOf" srcId="{FC53987B-84E3-4162-BD91-B99F42F599D1}" destId="{308CAFC6-1A3F-4F8E-9304-E5C4EBFF8E89}" srcOrd="0" destOrd="0" presId="urn:microsoft.com/office/officeart/2008/layout/LinedList"/>
    <dgm:cxn modelId="{E8662AFA-C6DA-473E-B732-C3C6237F34D9}" srcId="{BA1B539D-7CAA-43C1-BA42-906B193014EA}" destId="{259EE9B0-8CFB-4FC1-8523-9C8882E013F1}" srcOrd="0" destOrd="0" parTransId="{95D9BB9A-73F9-478E-B4B9-C34865AB1413}" sibTransId="{EC4B7899-A897-4776-936B-42C590FF07A9}"/>
    <dgm:cxn modelId="{2DF24C04-2AC0-4AA3-8550-C4F543F304F1}" type="presParOf" srcId="{46990C41-11F9-44DB-BA5C-FF9991334AEE}" destId="{9D182178-EFD3-4E77-97E5-0A6B4A938CC2}" srcOrd="0" destOrd="0" presId="urn:microsoft.com/office/officeart/2008/layout/LinedList"/>
    <dgm:cxn modelId="{3E2FBAE0-C8F5-4DB6-AB7E-B202767F7345}" type="presParOf" srcId="{46990C41-11F9-44DB-BA5C-FF9991334AEE}" destId="{2EF9DC5F-E5E1-4BCC-92C2-E50D980DECBF}" srcOrd="1" destOrd="0" presId="urn:microsoft.com/office/officeart/2008/layout/LinedList"/>
    <dgm:cxn modelId="{21752CF4-D1C5-441D-9695-1F9C2DF4299F}" type="presParOf" srcId="{2EF9DC5F-E5E1-4BCC-92C2-E50D980DECBF}" destId="{209F479D-183B-4E5B-A8EF-177D378D04D8}" srcOrd="0" destOrd="0" presId="urn:microsoft.com/office/officeart/2008/layout/LinedList"/>
    <dgm:cxn modelId="{67431BA3-EF2E-4D0F-AB07-8F2E51F1592C}" type="presParOf" srcId="{2EF9DC5F-E5E1-4BCC-92C2-E50D980DECBF}" destId="{579DB5BD-6AD3-40F5-AC79-11B9942A64DA}" srcOrd="1" destOrd="0" presId="urn:microsoft.com/office/officeart/2008/layout/LinedList"/>
    <dgm:cxn modelId="{CA4D03D6-B856-4095-B2C6-2FFC5B562346}" type="presParOf" srcId="{46990C41-11F9-44DB-BA5C-FF9991334AEE}" destId="{589E040A-D6E2-4D0B-99CC-A6FFF27E8A8F}" srcOrd="2" destOrd="0" presId="urn:microsoft.com/office/officeart/2008/layout/LinedList"/>
    <dgm:cxn modelId="{4EEEAA72-72F7-4A4D-BED7-75C3E5CC80C7}" type="presParOf" srcId="{46990C41-11F9-44DB-BA5C-FF9991334AEE}" destId="{2F68EC27-8FF6-4014-A1C0-749965D4E225}" srcOrd="3" destOrd="0" presId="urn:microsoft.com/office/officeart/2008/layout/LinedList"/>
    <dgm:cxn modelId="{82DA0FB1-A56D-4AA7-B212-A0CF0E48C95F}" type="presParOf" srcId="{2F68EC27-8FF6-4014-A1C0-749965D4E225}" destId="{1C055A69-00A4-441C-998A-D191E65016CF}" srcOrd="0" destOrd="0" presId="urn:microsoft.com/office/officeart/2008/layout/LinedList"/>
    <dgm:cxn modelId="{E386968C-547B-4E4B-95D2-C4E939AF86F3}" type="presParOf" srcId="{2F68EC27-8FF6-4014-A1C0-749965D4E225}" destId="{D61C22BA-17D6-474E-83DC-109BE1286388}" srcOrd="1" destOrd="0" presId="urn:microsoft.com/office/officeart/2008/layout/LinedList"/>
    <dgm:cxn modelId="{1FDDEACF-2B42-47CB-9C1E-E4FB01AE3E9B}" type="presParOf" srcId="{46990C41-11F9-44DB-BA5C-FF9991334AEE}" destId="{8BDD5D4F-3DD4-4905-B4E3-E64E5493DFDE}" srcOrd="4" destOrd="0" presId="urn:microsoft.com/office/officeart/2008/layout/LinedList"/>
    <dgm:cxn modelId="{FC494979-775E-458D-A7EF-4ABD5E1F26A0}" type="presParOf" srcId="{46990C41-11F9-44DB-BA5C-FF9991334AEE}" destId="{722E257E-C417-4477-BEFE-B67C9728F7D3}" srcOrd="5" destOrd="0" presId="urn:microsoft.com/office/officeart/2008/layout/LinedList"/>
    <dgm:cxn modelId="{272680EB-099A-47CA-A4B2-E1B9E1E7C1F0}" type="presParOf" srcId="{722E257E-C417-4477-BEFE-B67C9728F7D3}" destId="{308CAFC6-1A3F-4F8E-9304-E5C4EBFF8E89}" srcOrd="0" destOrd="0" presId="urn:microsoft.com/office/officeart/2008/layout/LinedList"/>
    <dgm:cxn modelId="{3C02668E-163E-4564-9E4D-25EA25E9D07A}" type="presParOf" srcId="{722E257E-C417-4477-BEFE-B67C9728F7D3}" destId="{BACB5ECE-9C67-4C60-A7EB-F7A730A344D2}" srcOrd="1" destOrd="0" presId="urn:microsoft.com/office/officeart/2008/layout/LinedList"/>
    <dgm:cxn modelId="{1B535EF1-6CE6-49C8-A6D6-591381CBF5B0}" type="presParOf" srcId="{46990C41-11F9-44DB-BA5C-FF9991334AEE}" destId="{9EBDC1A1-A4F4-4589-9B60-7991F9A5238C}" srcOrd="6" destOrd="0" presId="urn:microsoft.com/office/officeart/2008/layout/LinedList"/>
    <dgm:cxn modelId="{B7EB5283-1063-4788-A2EA-B5B903DA4816}" type="presParOf" srcId="{46990C41-11F9-44DB-BA5C-FF9991334AEE}" destId="{27E3916D-5F5E-4931-A6E7-79C010BA25C6}" srcOrd="7" destOrd="0" presId="urn:microsoft.com/office/officeart/2008/layout/LinedList"/>
    <dgm:cxn modelId="{FDD77830-A07B-4742-AA56-D9BE54D15B0A}" type="presParOf" srcId="{27E3916D-5F5E-4931-A6E7-79C010BA25C6}" destId="{1992427F-2D7A-48A4-961B-A8A17AB071F5}" srcOrd="0" destOrd="0" presId="urn:microsoft.com/office/officeart/2008/layout/LinedList"/>
    <dgm:cxn modelId="{0745599F-7E15-425E-8ECB-1B1FB40E21C6}" type="presParOf" srcId="{27E3916D-5F5E-4931-A6E7-79C010BA25C6}" destId="{2909CF3E-7E9B-4A21-8E3D-5E279250659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27A29C0-E079-4E52-9961-A41453CAD8E8}" type="doc">
      <dgm:prSet loTypeId="urn:microsoft.com/office/officeart/2005/8/layout/vList2" loCatId="list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33EF94D7-7A32-439A-8B1F-BDACDFBDBFCA}">
      <dgm:prSet/>
      <dgm:spPr/>
      <dgm:t>
        <a:bodyPr/>
        <a:lstStyle/>
        <a:p>
          <a:r>
            <a:rPr lang="en-US" b="1" dirty="0"/>
            <a:t>Source: </a:t>
          </a:r>
          <a:endParaRPr lang="en-US" dirty="0"/>
        </a:p>
      </dgm:t>
    </dgm:pt>
    <dgm:pt modelId="{078C6296-FEF2-4A21-A889-8EFECE9B1CBA}" type="parTrans" cxnId="{E4E93E9E-E9A7-4D98-8FFE-F0446E719925}">
      <dgm:prSet/>
      <dgm:spPr/>
      <dgm:t>
        <a:bodyPr/>
        <a:lstStyle/>
        <a:p>
          <a:endParaRPr lang="en-US"/>
        </a:p>
      </dgm:t>
    </dgm:pt>
    <dgm:pt modelId="{70216C2B-B0E2-476D-A7E0-8DDE77CA4821}" type="sibTrans" cxnId="{E4E93E9E-E9A7-4D98-8FFE-F0446E719925}">
      <dgm:prSet/>
      <dgm:spPr/>
      <dgm:t>
        <a:bodyPr/>
        <a:lstStyle/>
        <a:p>
          <a:endParaRPr lang="en-US"/>
        </a:p>
      </dgm:t>
    </dgm:pt>
    <dgm:pt modelId="{9351F54F-8FE1-485F-B08A-4D1073E845AF}">
      <dgm:prSet/>
      <dgm:spPr/>
      <dgm:t>
        <a:bodyPr/>
        <a:lstStyle/>
        <a:p>
          <a:r>
            <a:rPr lang="en-US" b="1" dirty="0" err="1"/>
            <a:t>Roboflow</a:t>
          </a:r>
          <a:r>
            <a:rPr lang="en-US" b="1" dirty="0"/>
            <a:t> Universe </a:t>
          </a:r>
          <a:endParaRPr lang="en-US" dirty="0"/>
        </a:p>
      </dgm:t>
    </dgm:pt>
    <dgm:pt modelId="{85D66AEB-9467-4387-ABCC-924C9385E5C9}" type="parTrans" cxnId="{AA6B9615-4468-43A3-9434-1735AF37B2D2}">
      <dgm:prSet/>
      <dgm:spPr/>
      <dgm:t>
        <a:bodyPr/>
        <a:lstStyle/>
        <a:p>
          <a:endParaRPr lang="en-US"/>
        </a:p>
      </dgm:t>
    </dgm:pt>
    <dgm:pt modelId="{84EC3F84-61DB-496A-AFD6-9B057D3D8F21}" type="sibTrans" cxnId="{AA6B9615-4468-43A3-9434-1735AF37B2D2}">
      <dgm:prSet/>
      <dgm:spPr/>
      <dgm:t>
        <a:bodyPr/>
        <a:lstStyle/>
        <a:p>
          <a:endParaRPr lang="en-US"/>
        </a:p>
      </dgm:t>
    </dgm:pt>
    <dgm:pt modelId="{85E609D3-3D7B-4E3B-8FE0-702C8966FE25}">
      <dgm:prSet/>
      <dgm:spPr/>
      <dgm:t>
        <a:bodyPr/>
        <a:lstStyle/>
        <a:p>
          <a:r>
            <a:rPr lang="en-US" b="1" dirty="0"/>
            <a:t>Kaggle PPE Datasets </a:t>
          </a:r>
          <a:endParaRPr lang="en-US" dirty="0"/>
        </a:p>
      </dgm:t>
    </dgm:pt>
    <dgm:pt modelId="{8EEB7445-BCDD-440B-8C0C-3CC300D3973E}" type="parTrans" cxnId="{2CCAFDC8-E1F6-4C17-BD54-AA97053B402F}">
      <dgm:prSet/>
      <dgm:spPr/>
      <dgm:t>
        <a:bodyPr/>
        <a:lstStyle/>
        <a:p>
          <a:endParaRPr lang="en-US"/>
        </a:p>
      </dgm:t>
    </dgm:pt>
    <dgm:pt modelId="{0FE8A10A-4098-4299-8B37-63E5215A67B6}" type="sibTrans" cxnId="{2CCAFDC8-E1F6-4C17-BD54-AA97053B402F}">
      <dgm:prSet/>
      <dgm:spPr/>
      <dgm:t>
        <a:bodyPr/>
        <a:lstStyle/>
        <a:p>
          <a:endParaRPr lang="en-US"/>
        </a:p>
      </dgm:t>
    </dgm:pt>
    <dgm:pt modelId="{1BFE4A3F-07EA-4B03-BA81-972EB1F3BC6B}">
      <dgm:prSet/>
      <dgm:spPr/>
      <dgm:t>
        <a:bodyPr/>
        <a:lstStyle/>
        <a:p>
          <a:r>
            <a:rPr lang="en-US" b="1"/>
            <a:t>Dataset Size:</a:t>
          </a:r>
          <a:r>
            <a:rPr lang="en-US"/>
            <a:t> </a:t>
          </a:r>
        </a:p>
      </dgm:t>
    </dgm:pt>
    <dgm:pt modelId="{966D10A2-D0F6-4CD6-A865-9FEACE30F5A9}" type="parTrans" cxnId="{B1335911-EC16-4CC2-9050-84D8B0F77763}">
      <dgm:prSet/>
      <dgm:spPr/>
      <dgm:t>
        <a:bodyPr/>
        <a:lstStyle/>
        <a:p>
          <a:endParaRPr lang="en-US"/>
        </a:p>
      </dgm:t>
    </dgm:pt>
    <dgm:pt modelId="{493F2A18-0870-47C8-9709-651B3BB27AEE}" type="sibTrans" cxnId="{B1335911-EC16-4CC2-9050-84D8B0F77763}">
      <dgm:prSet/>
      <dgm:spPr/>
      <dgm:t>
        <a:bodyPr/>
        <a:lstStyle/>
        <a:p>
          <a:endParaRPr lang="en-US"/>
        </a:p>
      </dgm:t>
    </dgm:pt>
    <dgm:pt modelId="{FB628622-6E13-4F9C-A195-EE8EEEB624E9}">
      <dgm:prSet/>
      <dgm:spPr/>
      <dgm:t>
        <a:bodyPr/>
        <a:lstStyle/>
        <a:p>
          <a:r>
            <a:rPr lang="en-US" dirty="0" err="1"/>
            <a:t>Roboflow</a:t>
          </a:r>
          <a:r>
            <a:rPr lang="en-US" dirty="0"/>
            <a:t> dataset: 136 labeled images </a:t>
          </a:r>
        </a:p>
      </dgm:t>
    </dgm:pt>
    <dgm:pt modelId="{1A72C148-2458-467E-BB4E-8F6FFCF5FBF9}" type="parTrans" cxnId="{F9AFFB1F-34FA-46CE-A42A-8C572542011A}">
      <dgm:prSet/>
      <dgm:spPr/>
      <dgm:t>
        <a:bodyPr/>
        <a:lstStyle/>
        <a:p>
          <a:endParaRPr lang="en-US"/>
        </a:p>
      </dgm:t>
    </dgm:pt>
    <dgm:pt modelId="{8E5ED3CC-6E17-42E4-B1FD-A86A75D6B2C9}" type="sibTrans" cxnId="{F9AFFB1F-34FA-46CE-A42A-8C572542011A}">
      <dgm:prSet/>
      <dgm:spPr/>
      <dgm:t>
        <a:bodyPr/>
        <a:lstStyle/>
        <a:p>
          <a:endParaRPr lang="en-US"/>
        </a:p>
      </dgm:t>
    </dgm:pt>
    <dgm:pt modelId="{6E6A8E21-9011-4299-AFED-18DD645C898C}">
      <dgm:prSet/>
      <dgm:spPr/>
      <dgm:t>
        <a:bodyPr/>
        <a:lstStyle/>
        <a:p>
          <a:r>
            <a:rPr lang="en-US" b="1" dirty="0"/>
            <a:t>Labels:</a:t>
          </a:r>
          <a:r>
            <a:rPr lang="en-US" dirty="0"/>
            <a:t> </a:t>
          </a:r>
        </a:p>
      </dgm:t>
    </dgm:pt>
    <dgm:pt modelId="{403537D6-D341-4B4D-B8E6-31EAA3CEC9A9}" type="parTrans" cxnId="{65C1693A-903C-4B8B-BB29-6D591223E18A}">
      <dgm:prSet/>
      <dgm:spPr/>
      <dgm:t>
        <a:bodyPr/>
        <a:lstStyle/>
        <a:p>
          <a:endParaRPr lang="en-US"/>
        </a:p>
      </dgm:t>
    </dgm:pt>
    <dgm:pt modelId="{6B457C30-B9FB-4DF3-B11E-4C9E1CC46D12}" type="sibTrans" cxnId="{65C1693A-903C-4B8B-BB29-6D591223E18A}">
      <dgm:prSet/>
      <dgm:spPr/>
      <dgm:t>
        <a:bodyPr/>
        <a:lstStyle/>
        <a:p>
          <a:endParaRPr lang="en-US"/>
        </a:p>
      </dgm:t>
    </dgm:pt>
    <dgm:pt modelId="{593B8511-1427-4699-9000-3527C3D95865}">
      <dgm:prSet/>
      <dgm:spPr/>
      <dgm:t>
        <a:bodyPr/>
        <a:lstStyle/>
        <a:p>
          <a:r>
            <a:rPr lang="en-US" dirty="0"/>
            <a:t>Person </a:t>
          </a:r>
        </a:p>
      </dgm:t>
    </dgm:pt>
    <dgm:pt modelId="{5FC04FC8-406C-4E2C-A8EC-29A52EB0C5A8}" type="parTrans" cxnId="{F34CB71F-A054-45D9-B71C-5C9B35873856}">
      <dgm:prSet/>
      <dgm:spPr/>
      <dgm:t>
        <a:bodyPr/>
        <a:lstStyle/>
        <a:p>
          <a:endParaRPr lang="en-US"/>
        </a:p>
      </dgm:t>
    </dgm:pt>
    <dgm:pt modelId="{2F72170D-5D94-4EEC-8CF9-57693DFBDF5E}" type="sibTrans" cxnId="{F34CB71F-A054-45D9-B71C-5C9B35873856}">
      <dgm:prSet/>
      <dgm:spPr/>
      <dgm:t>
        <a:bodyPr/>
        <a:lstStyle/>
        <a:p>
          <a:endParaRPr lang="en-US"/>
        </a:p>
      </dgm:t>
    </dgm:pt>
    <dgm:pt modelId="{CF73AD1C-6160-402A-8A24-A88BFC61A91E}">
      <dgm:prSet/>
      <dgm:spPr/>
      <dgm:t>
        <a:bodyPr/>
        <a:lstStyle/>
        <a:p>
          <a:r>
            <a:rPr lang="en-US" dirty="0"/>
            <a:t>Hard Hat</a:t>
          </a:r>
        </a:p>
      </dgm:t>
    </dgm:pt>
    <dgm:pt modelId="{7BD7DCC0-4939-40B3-8211-F6EC95D91E5D}" type="parTrans" cxnId="{63FB0BBF-F3D7-4D22-B286-29977E3C5F7E}">
      <dgm:prSet/>
      <dgm:spPr/>
      <dgm:t>
        <a:bodyPr/>
        <a:lstStyle/>
        <a:p>
          <a:endParaRPr lang="en-US"/>
        </a:p>
      </dgm:t>
    </dgm:pt>
    <dgm:pt modelId="{8F3AA2F4-EE44-4D47-B440-6F11CF68661D}" type="sibTrans" cxnId="{63FB0BBF-F3D7-4D22-B286-29977E3C5F7E}">
      <dgm:prSet/>
      <dgm:spPr/>
      <dgm:t>
        <a:bodyPr/>
        <a:lstStyle/>
        <a:p>
          <a:endParaRPr lang="en-US"/>
        </a:p>
      </dgm:t>
    </dgm:pt>
    <dgm:pt modelId="{06A67292-3F26-4AAA-9144-9846AB690C1B}">
      <dgm:prSet/>
      <dgm:spPr/>
      <dgm:t>
        <a:bodyPr/>
        <a:lstStyle/>
        <a:p>
          <a:r>
            <a:rPr lang="en-US" dirty="0"/>
            <a:t>Safety Vest</a:t>
          </a:r>
        </a:p>
      </dgm:t>
    </dgm:pt>
    <dgm:pt modelId="{341B067B-1458-49A5-92EB-82509429DB75}" type="parTrans" cxnId="{E4194C4C-9EC3-49E9-839C-5744DCFAF287}">
      <dgm:prSet/>
      <dgm:spPr/>
      <dgm:t>
        <a:bodyPr/>
        <a:lstStyle/>
        <a:p>
          <a:endParaRPr lang="en-US"/>
        </a:p>
      </dgm:t>
    </dgm:pt>
    <dgm:pt modelId="{5923C169-5FBE-4EA6-9D7D-AA5C98A2EB6F}" type="sibTrans" cxnId="{E4194C4C-9EC3-49E9-839C-5744DCFAF287}">
      <dgm:prSet/>
      <dgm:spPr/>
      <dgm:t>
        <a:bodyPr/>
        <a:lstStyle/>
        <a:p>
          <a:endParaRPr lang="en-US"/>
        </a:p>
      </dgm:t>
    </dgm:pt>
    <dgm:pt modelId="{738D68A5-8830-4539-AA50-E2DDF1D03316}">
      <dgm:prSet/>
      <dgm:spPr/>
      <dgm:t>
        <a:bodyPr/>
        <a:lstStyle/>
        <a:p>
          <a:r>
            <a:rPr lang="en-US" dirty="0"/>
            <a:t>Safety Goggles</a:t>
          </a:r>
        </a:p>
      </dgm:t>
    </dgm:pt>
    <dgm:pt modelId="{84445FB4-5204-4C30-A203-9C5C3BAE2F1E}" type="parTrans" cxnId="{211A1A2F-CC91-49DB-90E8-87B04BCCD3F2}">
      <dgm:prSet/>
      <dgm:spPr/>
      <dgm:t>
        <a:bodyPr/>
        <a:lstStyle/>
        <a:p>
          <a:endParaRPr lang="en-US"/>
        </a:p>
      </dgm:t>
    </dgm:pt>
    <dgm:pt modelId="{66B90996-6B9A-4876-A437-A7B15B6E1E0A}" type="sibTrans" cxnId="{211A1A2F-CC91-49DB-90E8-87B04BCCD3F2}">
      <dgm:prSet/>
      <dgm:spPr/>
      <dgm:t>
        <a:bodyPr/>
        <a:lstStyle/>
        <a:p>
          <a:endParaRPr lang="en-US"/>
        </a:p>
      </dgm:t>
    </dgm:pt>
    <dgm:pt modelId="{55AC62E7-A02E-4BF9-B62F-14E10B8CFD0F}">
      <dgm:prSet/>
      <dgm:spPr/>
      <dgm:t>
        <a:bodyPr/>
        <a:lstStyle/>
        <a:p>
          <a:r>
            <a:rPr lang="en-US" b="1" dirty="0"/>
            <a:t>Data Preparation:</a:t>
          </a:r>
          <a:r>
            <a:rPr lang="en-US" dirty="0"/>
            <a:t> </a:t>
          </a:r>
        </a:p>
      </dgm:t>
    </dgm:pt>
    <dgm:pt modelId="{9CA5560E-EA6B-496A-9B52-7ED20B6AE831}" type="parTrans" cxnId="{4A5BD34E-4988-42A7-B093-812D486A686E}">
      <dgm:prSet/>
      <dgm:spPr/>
      <dgm:t>
        <a:bodyPr/>
        <a:lstStyle/>
        <a:p>
          <a:endParaRPr lang="en-US"/>
        </a:p>
      </dgm:t>
    </dgm:pt>
    <dgm:pt modelId="{2DCAD7A9-AED0-4EC8-A8E0-D05082A1A13D}" type="sibTrans" cxnId="{4A5BD34E-4988-42A7-B093-812D486A686E}">
      <dgm:prSet/>
      <dgm:spPr/>
      <dgm:t>
        <a:bodyPr/>
        <a:lstStyle/>
        <a:p>
          <a:endParaRPr lang="en-US"/>
        </a:p>
      </dgm:t>
    </dgm:pt>
    <dgm:pt modelId="{BFA51B94-09BC-461C-B47A-2FAD210C400D}">
      <dgm:prSet/>
      <dgm:spPr/>
      <dgm:t>
        <a:bodyPr/>
        <a:lstStyle/>
        <a:p>
          <a:r>
            <a:rPr lang="en-US" dirty="0"/>
            <a:t>Verify annotations </a:t>
          </a:r>
        </a:p>
      </dgm:t>
    </dgm:pt>
    <dgm:pt modelId="{82582EBE-138F-49C9-924A-6AEAF105CF70}" type="parTrans" cxnId="{6008DB26-58F7-4E90-9166-8DF55B2B4092}">
      <dgm:prSet/>
      <dgm:spPr/>
      <dgm:t>
        <a:bodyPr/>
        <a:lstStyle/>
        <a:p>
          <a:endParaRPr lang="en-US"/>
        </a:p>
      </dgm:t>
    </dgm:pt>
    <dgm:pt modelId="{EC6D7950-DC67-40BB-BCEB-2DA3666F2D5D}" type="sibTrans" cxnId="{6008DB26-58F7-4E90-9166-8DF55B2B4092}">
      <dgm:prSet/>
      <dgm:spPr/>
      <dgm:t>
        <a:bodyPr/>
        <a:lstStyle/>
        <a:p>
          <a:endParaRPr lang="en-US"/>
        </a:p>
      </dgm:t>
    </dgm:pt>
    <dgm:pt modelId="{5068EF45-D750-4F53-A144-800617293BF1}">
      <dgm:prSet/>
      <dgm:spPr/>
      <dgm:t>
        <a:bodyPr/>
        <a:lstStyle/>
        <a:p>
          <a:r>
            <a:rPr lang="en-US" dirty="0"/>
            <a:t>Resize images</a:t>
          </a:r>
        </a:p>
      </dgm:t>
    </dgm:pt>
    <dgm:pt modelId="{80C9ABD5-9995-4814-AC15-B925BC573ABD}" type="parTrans" cxnId="{3C1E14B6-38BB-441F-B4E9-CD75B0B8B8E7}">
      <dgm:prSet/>
      <dgm:spPr/>
      <dgm:t>
        <a:bodyPr/>
        <a:lstStyle/>
        <a:p>
          <a:endParaRPr lang="en-US"/>
        </a:p>
      </dgm:t>
    </dgm:pt>
    <dgm:pt modelId="{093BCD5D-F782-4853-9216-4E1BA794048C}" type="sibTrans" cxnId="{3C1E14B6-38BB-441F-B4E9-CD75B0B8B8E7}">
      <dgm:prSet/>
      <dgm:spPr/>
      <dgm:t>
        <a:bodyPr/>
        <a:lstStyle/>
        <a:p>
          <a:endParaRPr lang="en-US"/>
        </a:p>
      </dgm:t>
    </dgm:pt>
    <dgm:pt modelId="{8CD95213-DE8D-487A-B6F8-A9C4A2D4C51F}">
      <dgm:prSet/>
      <dgm:spPr/>
      <dgm:t>
        <a:bodyPr/>
        <a:lstStyle/>
        <a:p>
          <a:r>
            <a:rPr lang="en-US" dirty="0"/>
            <a:t>Data augmentation</a:t>
          </a:r>
        </a:p>
      </dgm:t>
    </dgm:pt>
    <dgm:pt modelId="{F4FE2BDD-B01A-444A-9A2F-99FD3BB9994F}" type="parTrans" cxnId="{B8F607D2-C2DA-4A16-88F6-91D951E7B039}">
      <dgm:prSet/>
      <dgm:spPr/>
      <dgm:t>
        <a:bodyPr/>
        <a:lstStyle/>
        <a:p>
          <a:endParaRPr lang="en-US"/>
        </a:p>
      </dgm:t>
    </dgm:pt>
    <dgm:pt modelId="{40DCF7F6-465B-4AE3-9A59-D13ECA33E18E}" type="sibTrans" cxnId="{B8F607D2-C2DA-4A16-88F6-91D951E7B039}">
      <dgm:prSet/>
      <dgm:spPr/>
      <dgm:t>
        <a:bodyPr/>
        <a:lstStyle/>
        <a:p>
          <a:endParaRPr lang="en-US"/>
        </a:p>
      </dgm:t>
    </dgm:pt>
    <dgm:pt modelId="{659DE93F-603B-4B0A-8893-F732E5787713}">
      <dgm:prSet/>
      <dgm:spPr/>
      <dgm:t>
        <a:bodyPr/>
        <a:lstStyle/>
        <a:p>
          <a:r>
            <a:rPr lang="en-US" dirty="0"/>
            <a:t>Train / Validation / Test split</a:t>
          </a:r>
        </a:p>
      </dgm:t>
    </dgm:pt>
    <dgm:pt modelId="{52B64DFF-1B22-49AA-A48D-276A192687E2}" type="parTrans" cxnId="{62EFCEFD-976C-485E-838D-537EFE0C9AA3}">
      <dgm:prSet/>
      <dgm:spPr/>
      <dgm:t>
        <a:bodyPr/>
        <a:lstStyle/>
        <a:p>
          <a:endParaRPr lang="en-US"/>
        </a:p>
      </dgm:t>
    </dgm:pt>
    <dgm:pt modelId="{A932A596-2D92-41A4-B0E6-F9163D7D8A8D}" type="sibTrans" cxnId="{62EFCEFD-976C-485E-838D-537EFE0C9AA3}">
      <dgm:prSet/>
      <dgm:spPr/>
      <dgm:t>
        <a:bodyPr/>
        <a:lstStyle/>
        <a:p>
          <a:endParaRPr lang="en-US"/>
        </a:p>
      </dgm:t>
    </dgm:pt>
    <dgm:pt modelId="{F24D9AD9-9670-4F07-9FBD-A12BD09F07CF}">
      <dgm:prSet/>
      <dgm:spPr/>
      <dgm:t>
        <a:bodyPr/>
        <a:lstStyle/>
        <a:p>
          <a:r>
            <a:rPr lang="en-US" dirty="0"/>
            <a:t>Kaggle dataset: 7,035 images </a:t>
          </a:r>
        </a:p>
      </dgm:t>
    </dgm:pt>
    <dgm:pt modelId="{E8EE4634-0BA9-4F2E-A3E2-3CE3E898465D}" type="parTrans" cxnId="{5EB54575-A393-4409-B153-AAB0886F6270}">
      <dgm:prSet/>
      <dgm:spPr/>
      <dgm:t>
        <a:bodyPr/>
        <a:lstStyle/>
        <a:p>
          <a:endParaRPr lang="en-US"/>
        </a:p>
      </dgm:t>
    </dgm:pt>
    <dgm:pt modelId="{6A13C445-B282-437A-AB34-585D4E1EF6C0}" type="sibTrans" cxnId="{5EB54575-A393-4409-B153-AAB0886F6270}">
      <dgm:prSet/>
      <dgm:spPr/>
      <dgm:t>
        <a:bodyPr/>
        <a:lstStyle/>
        <a:p>
          <a:endParaRPr lang="en-US"/>
        </a:p>
      </dgm:t>
    </dgm:pt>
    <dgm:pt modelId="{2FFA6ACB-DECC-454F-B151-DCEB1A07D20C}" type="pres">
      <dgm:prSet presAssocID="{F27A29C0-E079-4E52-9961-A41453CAD8E8}" presName="linear" presStyleCnt="0">
        <dgm:presLayoutVars>
          <dgm:animLvl val="lvl"/>
          <dgm:resizeHandles val="exact"/>
        </dgm:presLayoutVars>
      </dgm:prSet>
      <dgm:spPr/>
    </dgm:pt>
    <dgm:pt modelId="{B32B0EA3-E048-466F-9776-87751F29F13E}" type="pres">
      <dgm:prSet presAssocID="{33EF94D7-7A32-439A-8B1F-BDACDFBDBFC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B7D8917-BD26-4824-BF10-FA855F8A43F8}" type="pres">
      <dgm:prSet presAssocID="{33EF94D7-7A32-439A-8B1F-BDACDFBDBFCA}" presName="childText" presStyleLbl="revTx" presStyleIdx="0" presStyleCnt="4">
        <dgm:presLayoutVars>
          <dgm:bulletEnabled val="1"/>
        </dgm:presLayoutVars>
      </dgm:prSet>
      <dgm:spPr/>
    </dgm:pt>
    <dgm:pt modelId="{EFFADA3A-EC9B-4D65-96EF-D70F561ED275}" type="pres">
      <dgm:prSet presAssocID="{1BFE4A3F-07EA-4B03-BA81-972EB1F3BC6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B25FABE-A4EC-40FF-AA83-904456CFA15F}" type="pres">
      <dgm:prSet presAssocID="{1BFE4A3F-07EA-4B03-BA81-972EB1F3BC6B}" presName="childText" presStyleLbl="revTx" presStyleIdx="1" presStyleCnt="4">
        <dgm:presLayoutVars>
          <dgm:bulletEnabled val="1"/>
        </dgm:presLayoutVars>
      </dgm:prSet>
      <dgm:spPr/>
    </dgm:pt>
    <dgm:pt modelId="{D66C30F6-3F7E-415E-B5C8-8F4A5E5005D3}" type="pres">
      <dgm:prSet presAssocID="{6E6A8E21-9011-4299-AFED-18DD645C898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D4955B5-3151-4A88-9A88-057DFE1EB57E}" type="pres">
      <dgm:prSet presAssocID="{6E6A8E21-9011-4299-AFED-18DD645C898C}" presName="childText" presStyleLbl="revTx" presStyleIdx="2" presStyleCnt="4">
        <dgm:presLayoutVars>
          <dgm:bulletEnabled val="1"/>
        </dgm:presLayoutVars>
      </dgm:prSet>
      <dgm:spPr/>
    </dgm:pt>
    <dgm:pt modelId="{A52C044E-6D5D-4DA2-B071-AEC0100A420B}" type="pres">
      <dgm:prSet presAssocID="{55AC62E7-A02E-4BF9-B62F-14E10B8CFD0F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8A952DC3-91AD-4410-99B5-0E2D561B4110}" type="pres">
      <dgm:prSet presAssocID="{55AC62E7-A02E-4BF9-B62F-14E10B8CFD0F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FD58100E-7FE1-4E2D-BF48-FEF6AC20FE31}" type="presOf" srcId="{33EF94D7-7A32-439A-8B1F-BDACDFBDBFCA}" destId="{B32B0EA3-E048-466F-9776-87751F29F13E}" srcOrd="0" destOrd="0" presId="urn:microsoft.com/office/officeart/2005/8/layout/vList2"/>
    <dgm:cxn modelId="{B1335911-EC16-4CC2-9050-84D8B0F77763}" srcId="{F27A29C0-E079-4E52-9961-A41453CAD8E8}" destId="{1BFE4A3F-07EA-4B03-BA81-972EB1F3BC6B}" srcOrd="1" destOrd="0" parTransId="{966D10A2-D0F6-4CD6-A865-9FEACE30F5A9}" sibTransId="{493F2A18-0870-47C8-9709-651B3BB27AEE}"/>
    <dgm:cxn modelId="{AA6B9615-4468-43A3-9434-1735AF37B2D2}" srcId="{33EF94D7-7A32-439A-8B1F-BDACDFBDBFCA}" destId="{9351F54F-8FE1-485F-B08A-4D1073E845AF}" srcOrd="0" destOrd="0" parTransId="{85D66AEB-9467-4387-ABCC-924C9385E5C9}" sibTransId="{84EC3F84-61DB-496A-AFD6-9B057D3D8F21}"/>
    <dgm:cxn modelId="{F34CB71F-A054-45D9-B71C-5C9B35873856}" srcId="{6E6A8E21-9011-4299-AFED-18DD645C898C}" destId="{593B8511-1427-4699-9000-3527C3D95865}" srcOrd="0" destOrd="0" parTransId="{5FC04FC8-406C-4E2C-A8EC-29A52EB0C5A8}" sibTransId="{2F72170D-5D94-4EEC-8CF9-57693DFBDF5E}"/>
    <dgm:cxn modelId="{F9AFFB1F-34FA-46CE-A42A-8C572542011A}" srcId="{1BFE4A3F-07EA-4B03-BA81-972EB1F3BC6B}" destId="{FB628622-6E13-4F9C-A195-EE8EEEB624E9}" srcOrd="0" destOrd="0" parTransId="{1A72C148-2458-467E-BB4E-8F6FFCF5FBF9}" sibTransId="{8E5ED3CC-6E17-42E4-B1FD-A86A75D6B2C9}"/>
    <dgm:cxn modelId="{6008DB26-58F7-4E90-9166-8DF55B2B4092}" srcId="{55AC62E7-A02E-4BF9-B62F-14E10B8CFD0F}" destId="{BFA51B94-09BC-461C-B47A-2FAD210C400D}" srcOrd="0" destOrd="0" parTransId="{82582EBE-138F-49C9-924A-6AEAF105CF70}" sibTransId="{EC6D7950-DC67-40BB-BCEB-2DA3666F2D5D}"/>
    <dgm:cxn modelId="{211A1A2F-CC91-49DB-90E8-87B04BCCD3F2}" srcId="{6E6A8E21-9011-4299-AFED-18DD645C898C}" destId="{738D68A5-8830-4539-AA50-E2DDF1D03316}" srcOrd="3" destOrd="0" parTransId="{84445FB4-5204-4C30-A203-9C5C3BAE2F1E}" sibTransId="{66B90996-6B9A-4876-A437-A7B15B6E1E0A}"/>
    <dgm:cxn modelId="{BEE02630-37FC-4F19-B58F-E9054C3E54D6}" type="presOf" srcId="{FB628622-6E13-4F9C-A195-EE8EEEB624E9}" destId="{2B25FABE-A4EC-40FF-AA83-904456CFA15F}" srcOrd="0" destOrd="0" presId="urn:microsoft.com/office/officeart/2005/8/layout/vList2"/>
    <dgm:cxn modelId="{65C1693A-903C-4B8B-BB29-6D591223E18A}" srcId="{F27A29C0-E079-4E52-9961-A41453CAD8E8}" destId="{6E6A8E21-9011-4299-AFED-18DD645C898C}" srcOrd="2" destOrd="0" parTransId="{403537D6-D341-4B4D-B8E6-31EAA3CEC9A9}" sibTransId="{6B457C30-B9FB-4DF3-B11E-4C9E1CC46D12}"/>
    <dgm:cxn modelId="{BB5C8C5C-46E5-49BA-9700-57453A426591}" type="presOf" srcId="{8CD95213-DE8D-487A-B6F8-A9C4A2D4C51F}" destId="{8A952DC3-91AD-4410-99B5-0E2D561B4110}" srcOrd="0" destOrd="2" presId="urn:microsoft.com/office/officeart/2005/8/layout/vList2"/>
    <dgm:cxn modelId="{55DD6047-C91C-46F5-A707-ED1C9F45A883}" type="presOf" srcId="{738D68A5-8830-4539-AA50-E2DDF1D03316}" destId="{FD4955B5-3151-4A88-9A88-057DFE1EB57E}" srcOrd="0" destOrd="3" presId="urn:microsoft.com/office/officeart/2005/8/layout/vList2"/>
    <dgm:cxn modelId="{E4194C4C-9EC3-49E9-839C-5744DCFAF287}" srcId="{6E6A8E21-9011-4299-AFED-18DD645C898C}" destId="{06A67292-3F26-4AAA-9144-9846AB690C1B}" srcOrd="2" destOrd="0" parTransId="{341B067B-1458-49A5-92EB-82509429DB75}" sibTransId="{5923C169-5FBE-4EA6-9D7D-AA5C98A2EB6F}"/>
    <dgm:cxn modelId="{6C29A46C-7037-483C-857D-D5D14E1E3C5B}" type="presOf" srcId="{5068EF45-D750-4F53-A144-800617293BF1}" destId="{8A952DC3-91AD-4410-99B5-0E2D561B4110}" srcOrd="0" destOrd="1" presId="urn:microsoft.com/office/officeart/2005/8/layout/vList2"/>
    <dgm:cxn modelId="{4A5BD34E-4988-42A7-B093-812D486A686E}" srcId="{F27A29C0-E079-4E52-9961-A41453CAD8E8}" destId="{55AC62E7-A02E-4BF9-B62F-14E10B8CFD0F}" srcOrd="3" destOrd="0" parTransId="{9CA5560E-EA6B-496A-9B52-7ED20B6AE831}" sibTransId="{2DCAD7A9-AED0-4EC8-A8E0-D05082A1A13D}"/>
    <dgm:cxn modelId="{F5D64C50-9906-4C15-AD9A-7229ACF21225}" type="presOf" srcId="{1BFE4A3F-07EA-4B03-BA81-972EB1F3BC6B}" destId="{EFFADA3A-EC9B-4D65-96EF-D70F561ED275}" srcOrd="0" destOrd="0" presId="urn:microsoft.com/office/officeart/2005/8/layout/vList2"/>
    <dgm:cxn modelId="{5C01E770-F098-478B-B2A9-992542E6874A}" type="presOf" srcId="{659DE93F-603B-4B0A-8893-F732E5787713}" destId="{8A952DC3-91AD-4410-99B5-0E2D561B4110}" srcOrd="0" destOrd="3" presId="urn:microsoft.com/office/officeart/2005/8/layout/vList2"/>
    <dgm:cxn modelId="{10D1C251-DD4F-4714-B250-D0F595AED2F8}" type="presOf" srcId="{CF73AD1C-6160-402A-8A24-A88BFC61A91E}" destId="{FD4955B5-3151-4A88-9A88-057DFE1EB57E}" srcOrd="0" destOrd="1" presId="urn:microsoft.com/office/officeart/2005/8/layout/vList2"/>
    <dgm:cxn modelId="{33927953-4A8B-47CC-9C37-B001D7B86B7C}" type="presOf" srcId="{BFA51B94-09BC-461C-B47A-2FAD210C400D}" destId="{8A952DC3-91AD-4410-99B5-0E2D561B4110}" srcOrd="0" destOrd="0" presId="urn:microsoft.com/office/officeart/2005/8/layout/vList2"/>
    <dgm:cxn modelId="{5EB54575-A393-4409-B153-AAB0886F6270}" srcId="{1BFE4A3F-07EA-4B03-BA81-972EB1F3BC6B}" destId="{F24D9AD9-9670-4F07-9FBD-A12BD09F07CF}" srcOrd="1" destOrd="0" parTransId="{E8EE4634-0BA9-4F2E-A3E2-3CE3E898465D}" sibTransId="{6A13C445-B282-437A-AB34-585D4E1EF6C0}"/>
    <dgm:cxn modelId="{FA27D886-FB34-41E4-A940-8861D43099E2}" type="presOf" srcId="{55AC62E7-A02E-4BF9-B62F-14E10B8CFD0F}" destId="{A52C044E-6D5D-4DA2-B071-AEC0100A420B}" srcOrd="0" destOrd="0" presId="urn:microsoft.com/office/officeart/2005/8/layout/vList2"/>
    <dgm:cxn modelId="{E4E93E9E-E9A7-4D98-8FFE-F0446E719925}" srcId="{F27A29C0-E079-4E52-9961-A41453CAD8E8}" destId="{33EF94D7-7A32-439A-8B1F-BDACDFBDBFCA}" srcOrd="0" destOrd="0" parTransId="{078C6296-FEF2-4A21-A889-8EFECE9B1CBA}" sibTransId="{70216C2B-B0E2-476D-A7E0-8DDE77CA4821}"/>
    <dgm:cxn modelId="{E769D1AF-31E1-44CA-A371-8E6D2CE6EB79}" type="presOf" srcId="{593B8511-1427-4699-9000-3527C3D95865}" destId="{FD4955B5-3151-4A88-9A88-057DFE1EB57E}" srcOrd="0" destOrd="0" presId="urn:microsoft.com/office/officeart/2005/8/layout/vList2"/>
    <dgm:cxn modelId="{C91B3CB3-8E31-4E2E-B33F-E7A04C38781D}" type="presOf" srcId="{9351F54F-8FE1-485F-B08A-4D1073E845AF}" destId="{4B7D8917-BD26-4824-BF10-FA855F8A43F8}" srcOrd="0" destOrd="0" presId="urn:microsoft.com/office/officeart/2005/8/layout/vList2"/>
    <dgm:cxn modelId="{3C1E14B6-38BB-441F-B4E9-CD75B0B8B8E7}" srcId="{55AC62E7-A02E-4BF9-B62F-14E10B8CFD0F}" destId="{5068EF45-D750-4F53-A144-800617293BF1}" srcOrd="1" destOrd="0" parTransId="{80C9ABD5-9995-4814-AC15-B925BC573ABD}" sibTransId="{093BCD5D-F782-4853-9216-4E1BA794048C}"/>
    <dgm:cxn modelId="{63FB0BBF-F3D7-4D22-B286-29977E3C5F7E}" srcId="{6E6A8E21-9011-4299-AFED-18DD645C898C}" destId="{CF73AD1C-6160-402A-8A24-A88BFC61A91E}" srcOrd="1" destOrd="0" parTransId="{7BD7DCC0-4939-40B3-8211-F6EC95D91E5D}" sibTransId="{8F3AA2F4-EE44-4D47-B440-6F11CF68661D}"/>
    <dgm:cxn modelId="{2CCAFDC8-E1F6-4C17-BD54-AA97053B402F}" srcId="{33EF94D7-7A32-439A-8B1F-BDACDFBDBFCA}" destId="{85E609D3-3D7B-4E3B-8FE0-702C8966FE25}" srcOrd="1" destOrd="0" parTransId="{8EEB7445-BCDD-440B-8C0C-3CC300D3973E}" sibTransId="{0FE8A10A-4098-4299-8B37-63E5215A67B6}"/>
    <dgm:cxn modelId="{AD6936CF-5A4C-43EA-8BCF-0B59DF1CD137}" type="presOf" srcId="{85E609D3-3D7B-4E3B-8FE0-702C8966FE25}" destId="{4B7D8917-BD26-4824-BF10-FA855F8A43F8}" srcOrd="0" destOrd="1" presId="urn:microsoft.com/office/officeart/2005/8/layout/vList2"/>
    <dgm:cxn modelId="{B8F607D2-C2DA-4A16-88F6-91D951E7B039}" srcId="{55AC62E7-A02E-4BF9-B62F-14E10B8CFD0F}" destId="{8CD95213-DE8D-487A-B6F8-A9C4A2D4C51F}" srcOrd="2" destOrd="0" parTransId="{F4FE2BDD-B01A-444A-9A2F-99FD3BB9994F}" sibTransId="{40DCF7F6-465B-4AE3-9A59-D13ECA33E18E}"/>
    <dgm:cxn modelId="{1ACAF2D2-E59D-48DF-8C9B-E41CE426A03E}" type="presOf" srcId="{F27A29C0-E079-4E52-9961-A41453CAD8E8}" destId="{2FFA6ACB-DECC-454F-B151-DCEB1A07D20C}" srcOrd="0" destOrd="0" presId="urn:microsoft.com/office/officeart/2005/8/layout/vList2"/>
    <dgm:cxn modelId="{8C2E5FE9-AE0E-4E4E-A480-2D6478578714}" type="presOf" srcId="{6E6A8E21-9011-4299-AFED-18DD645C898C}" destId="{D66C30F6-3F7E-415E-B5C8-8F4A5E5005D3}" srcOrd="0" destOrd="0" presId="urn:microsoft.com/office/officeart/2005/8/layout/vList2"/>
    <dgm:cxn modelId="{203C68E9-1B13-4FA6-8485-B6298B70CFD2}" type="presOf" srcId="{F24D9AD9-9670-4F07-9FBD-A12BD09F07CF}" destId="{2B25FABE-A4EC-40FF-AA83-904456CFA15F}" srcOrd="0" destOrd="1" presId="urn:microsoft.com/office/officeart/2005/8/layout/vList2"/>
    <dgm:cxn modelId="{42520BEB-C374-46EE-ACB3-987C0684B7B0}" type="presOf" srcId="{06A67292-3F26-4AAA-9144-9846AB690C1B}" destId="{FD4955B5-3151-4A88-9A88-057DFE1EB57E}" srcOrd="0" destOrd="2" presId="urn:microsoft.com/office/officeart/2005/8/layout/vList2"/>
    <dgm:cxn modelId="{62EFCEFD-976C-485E-838D-537EFE0C9AA3}" srcId="{55AC62E7-A02E-4BF9-B62F-14E10B8CFD0F}" destId="{659DE93F-603B-4B0A-8893-F732E5787713}" srcOrd="3" destOrd="0" parTransId="{52B64DFF-1B22-49AA-A48D-276A192687E2}" sibTransId="{A932A596-2D92-41A4-B0E6-F9163D7D8A8D}"/>
    <dgm:cxn modelId="{486C5423-0F9E-483A-A1AF-DB523A14A969}" type="presParOf" srcId="{2FFA6ACB-DECC-454F-B151-DCEB1A07D20C}" destId="{B32B0EA3-E048-466F-9776-87751F29F13E}" srcOrd="0" destOrd="0" presId="urn:microsoft.com/office/officeart/2005/8/layout/vList2"/>
    <dgm:cxn modelId="{49F0CC83-9BED-48F5-B251-E4654A64DA37}" type="presParOf" srcId="{2FFA6ACB-DECC-454F-B151-DCEB1A07D20C}" destId="{4B7D8917-BD26-4824-BF10-FA855F8A43F8}" srcOrd="1" destOrd="0" presId="urn:microsoft.com/office/officeart/2005/8/layout/vList2"/>
    <dgm:cxn modelId="{7662530D-22CF-4EE6-8C0A-071D45959B1C}" type="presParOf" srcId="{2FFA6ACB-DECC-454F-B151-DCEB1A07D20C}" destId="{EFFADA3A-EC9B-4D65-96EF-D70F561ED275}" srcOrd="2" destOrd="0" presId="urn:microsoft.com/office/officeart/2005/8/layout/vList2"/>
    <dgm:cxn modelId="{55E8A91E-D3E7-49C0-BD95-10EF68AC9756}" type="presParOf" srcId="{2FFA6ACB-DECC-454F-B151-DCEB1A07D20C}" destId="{2B25FABE-A4EC-40FF-AA83-904456CFA15F}" srcOrd="3" destOrd="0" presId="urn:microsoft.com/office/officeart/2005/8/layout/vList2"/>
    <dgm:cxn modelId="{E2308133-DBCD-44C9-B683-16BC05C40A47}" type="presParOf" srcId="{2FFA6ACB-DECC-454F-B151-DCEB1A07D20C}" destId="{D66C30F6-3F7E-415E-B5C8-8F4A5E5005D3}" srcOrd="4" destOrd="0" presId="urn:microsoft.com/office/officeart/2005/8/layout/vList2"/>
    <dgm:cxn modelId="{90EA3FDF-5BBB-4E75-9D70-B761D479C558}" type="presParOf" srcId="{2FFA6ACB-DECC-454F-B151-DCEB1A07D20C}" destId="{FD4955B5-3151-4A88-9A88-057DFE1EB57E}" srcOrd="5" destOrd="0" presId="urn:microsoft.com/office/officeart/2005/8/layout/vList2"/>
    <dgm:cxn modelId="{F098A738-26B2-4F32-B280-B8402FD7AB91}" type="presParOf" srcId="{2FFA6ACB-DECC-454F-B151-DCEB1A07D20C}" destId="{A52C044E-6D5D-4DA2-B071-AEC0100A420B}" srcOrd="6" destOrd="0" presId="urn:microsoft.com/office/officeart/2005/8/layout/vList2"/>
    <dgm:cxn modelId="{16F4625B-75D0-4514-B532-50737817C74B}" type="presParOf" srcId="{2FFA6ACB-DECC-454F-B151-DCEB1A07D20C}" destId="{8A952DC3-91AD-4410-99B5-0E2D561B4110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19E731-78BD-43D0-81DD-137C24F0265B}">
      <dsp:nvSpPr>
        <dsp:cNvPr id="0" name=""/>
        <dsp:cNvSpPr/>
      </dsp:nvSpPr>
      <dsp:spPr>
        <a:xfrm>
          <a:off x="0" y="2179"/>
          <a:ext cx="4746163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99CB5A3F-A0B3-4566-A936-82F12BC7C734}">
      <dsp:nvSpPr>
        <dsp:cNvPr id="0" name=""/>
        <dsp:cNvSpPr/>
      </dsp:nvSpPr>
      <dsp:spPr>
        <a:xfrm>
          <a:off x="0" y="2179"/>
          <a:ext cx="4746163" cy="14862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0070C0"/>
              </a:solidFill>
            </a:rPr>
            <a:t>What real-world problem are we solving?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1" kern="1200" dirty="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 dirty="0"/>
            <a:t>-  </a:t>
          </a:r>
          <a:r>
            <a:rPr lang="en-US" sz="1200" b="0" kern="1200"/>
            <a:t>Workers in </a:t>
          </a:r>
          <a:r>
            <a:rPr lang="en-US" sz="1200" b="0" kern="1200" dirty="0"/>
            <a:t>industrial settings do not always wear the required personal protective equipment (PPE), increasing the risk of workplace injuries. </a:t>
          </a:r>
        </a:p>
      </dsp:txBody>
      <dsp:txXfrm>
        <a:off x="0" y="2179"/>
        <a:ext cx="4746163" cy="1486201"/>
      </dsp:txXfrm>
    </dsp:sp>
    <dsp:sp modelId="{7310288A-5B45-469E-BD43-C01EB07D4961}">
      <dsp:nvSpPr>
        <dsp:cNvPr id="0" name=""/>
        <dsp:cNvSpPr/>
      </dsp:nvSpPr>
      <dsp:spPr>
        <a:xfrm>
          <a:off x="0" y="1488380"/>
          <a:ext cx="4746163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D94D5BB3-80F5-45EE-B50E-FC79CFEDD6B0}">
      <dsp:nvSpPr>
        <dsp:cNvPr id="0" name=""/>
        <dsp:cNvSpPr/>
      </dsp:nvSpPr>
      <dsp:spPr>
        <a:xfrm>
          <a:off x="0" y="1488380"/>
          <a:ext cx="4746163" cy="14862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0070C0"/>
              </a:solidFill>
            </a:rPr>
            <a:t>Who cares? 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 dirty="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-  Construction companies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-  Safety managers 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-  Manufacturing facilities 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-  OSHA inspectors  </a:t>
          </a:r>
        </a:p>
      </dsp:txBody>
      <dsp:txXfrm>
        <a:off x="0" y="1488380"/>
        <a:ext cx="4746163" cy="1486201"/>
      </dsp:txXfrm>
    </dsp:sp>
    <dsp:sp modelId="{08E3C327-462A-453C-8889-5601595553EA}">
      <dsp:nvSpPr>
        <dsp:cNvPr id="0" name=""/>
        <dsp:cNvSpPr/>
      </dsp:nvSpPr>
      <dsp:spPr>
        <a:xfrm>
          <a:off x="0" y="2974582"/>
          <a:ext cx="4746163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9B238D17-6887-40DA-AE82-9744E0A0A559}">
      <dsp:nvSpPr>
        <dsp:cNvPr id="0" name=""/>
        <dsp:cNvSpPr/>
      </dsp:nvSpPr>
      <dsp:spPr>
        <a:xfrm>
          <a:off x="0" y="2974582"/>
          <a:ext cx="4746163" cy="14862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0070C0"/>
              </a:solidFill>
            </a:rPr>
            <a:t>Why is it important?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b="1" kern="1200" dirty="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-  Reduce </a:t>
          </a:r>
          <a:r>
            <a:rPr lang="en-US" sz="1200" kern="1200" dirty="0"/>
            <a:t>workplace accidents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-  Improve</a:t>
          </a:r>
          <a:r>
            <a:rPr lang="en-US" sz="1200" kern="1200" dirty="0"/>
            <a:t> safety compliance 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-  Lower </a:t>
          </a:r>
          <a:r>
            <a:rPr lang="en-US" sz="1200" kern="1200" dirty="0"/>
            <a:t>financial and legal risks </a:t>
          </a:r>
        </a:p>
      </dsp:txBody>
      <dsp:txXfrm>
        <a:off x="0" y="2974582"/>
        <a:ext cx="4746163" cy="148620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9569A3-73AE-40EA-970A-4D0A7780214C}">
      <dsp:nvSpPr>
        <dsp:cNvPr id="0" name=""/>
        <dsp:cNvSpPr/>
      </dsp:nvSpPr>
      <dsp:spPr>
        <a:xfrm>
          <a:off x="0" y="2131"/>
          <a:ext cx="4544762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864CBC3-C455-4994-99D8-D2A06D331D19}">
      <dsp:nvSpPr>
        <dsp:cNvPr id="0" name=""/>
        <dsp:cNvSpPr/>
      </dsp:nvSpPr>
      <dsp:spPr>
        <a:xfrm>
          <a:off x="0" y="2131"/>
          <a:ext cx="4544762" cy="14536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0070C0"/>
              </a:solidFill>
            </a:rPr>
            <a:t>What will our system do?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b="1" kern="1200" dirty="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- Detect workers and PPE in images 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- Identify helmets, safety vests, and goggles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- Determine whether each worker is compliant </a:t>
          </a:r>
        </a:p>
      </dsp:txBody>
      <dsp:txXfrm>
        <a:off x="0" y="2131"/>
        <a:ext cx="4544762" cy="1453601"/>
      </dsp:txXfrm>
    </dsp:sp>
    <dsp:sp modelId="{1C262780-D710-4AD6-ABDF-43510EFB8997}">
      <dsp:nvSpPr>
        <dsp:cNvPr id="0" name=""/>
        <dsp:cNvSpPr/>
      </dsp:nvSpPr>
      <dsp:spPr>
        <a:xfrm>
          <a:off x="0" y="1455733"/>
          <a:ext cx="4544762" cy="0"/>
        </a:xfrm>
        <a:prstGeom prst="line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-6076075"/>
              <a:satOff val="-413"/>
              <a:lumOff val="981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252AB3B-E3A9-4655-841A-4317181974B8}">
      <dsp:nvSpPr>
        <dsp:cNvPr id="0" name=""/>
        <dsp:cNvSpPr/>
      </dsp:nvSpPr>
      <dsp:spPr>
        <a:xfrm>
          <a:off x="0" y="1455733"/>
          <a:ext cx="4544762" cy="14536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0070C0"/>
              </a:solidFill>
            </a:rPr>
            <a:t>How will it solve the problem?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b="1" kern="1200" dirty="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Image → YOLO11 → Detect PPE → Compliance Check 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📷 → 🤖 → 🦺 → ✅</a:t>
          </a:r>
        </a:p>
      </dsp:txBody>
      <dsp:txXfrm>
        <a:off x="0" y="1455733"/>
        <a:ext cx="4544762" cy="1453601"/>
      </dsp:txXfrm>
    </dsp:sp>
    <dsp:sp modelId="{A238CC50-5FE3-4C24-AFC4-D46FF54B7F2C}">
      <dsp:nvSpPr>
        <dsp:cNvPr id="0" name=""/>
        <dsp:cNvSpPr/>
      </dsp:nvSpPr>
      <dsp:spPr>
        <a:xfrm>
          <a:off x="0" y="2909334"/>
          <a:ext cx="4544762" cy="0"/>
        </a:xfrm>
        <a:prstGeom prst="line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619C353-E617-49FB-A55E-853D2D7DF217}">
      <dsp:nvSpPr>
        <dsp:cNvPr id="0" name=""/>
        <dsp:cNvSpPr/>
      </dsp:nvSpPr>
      <dsp:spPr>
        <a:xfrm>
          <a:off x="0" y="2909334"/>
          <a:ext cx="4544762" cy="14536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0070C0"/>
              </a:solidFill>
            </a:rPr>
            <a:t>One-sentence description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b="1" kern="1200" dirty="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 dirty="0"/>
            <a:t>An AI-powered system that automatically detects whether construction workers are wearing the required PPE using YOLO11 object detection. </a:t>
          </a:r>
        </a:p>
      </dsp:txBody>
      <dsp:txXfrm>
        <a:off x="0" y="2909334"/>
        <a:ext cx="4544762" cy="145360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182178-EFD3-4E77-97E5-0A6B4A938CC2}">
      <dsp:nvSpPr>
        <dsp:cNvPr id="0" name=""/>
        <dsp:cNvSpPr/>
      </dsp:nvSpPr>
      <dsp:spPr>
        <a:xfrm>
          <a:off x="0" y="0"/>
          <a:ext cx="5181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9F479D-183B-4E5B-A8EF-177D378D04D8}">
      <dsp:nvSpPr>
        <dsp:cNvPr id="0" name=""/>
        <dsp:cNvSpPr/>
      </dsp:nvSpPr>
      <dsp:spPr>
        <a:xfrm>
          <a:off x="0" y="0"/>
          <a:ext cx="5181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solidFill>
                <a:srgbClr val="0070C0"/>
              </a:solidFill>
            </a:rPr>
            <a:t>Computer Vision Technique: </a:t>
          </a:r>
          <a:r>
            <a:rPr lang="en-US" sz="2800" kern="1200" dirty="0"/>
            <a:t>Object Detection</a:t>
          </a:r>
        </a:p>
      </dsp:txBody>
      <dsp:txXfrm>
        <a:off x="0" y="0"/>
        <a:ext cx="5181600" cy="1087834"/>
      </dsp:txXfrm>
    </dsp:sp>
    <dsp:sp modelId="{589E040A-D6E2-4D0B-99CC-A6FFF27E8A8F}">
      <dsp:nvSpPr>
        <dsp:cNvPr id="0" name=""/>
        <dsp:cNvSpPr/>
      </dsp:nvSpPr>
      <dsp:spPr>
        <a:xfrm>
          <a:off x="0" y="1087834"/>
          <a:ext cx="5181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055A69-00A4-441C-998A-D191E65016CF}">
      <dsp:nvSpPr>
        <dsp:cNvPr id="0" name=""/>
        <dsp:cNvSpPr/>
      </dsp:nvSpPr>
      <dsp:spPr>
        <a:xfrm>
          <a:off x="0" y="1087834"/>
          <a:ext cx="5181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solidFill>
                <a:srgbClr val="0070C0"/>
              </a:solidFill>
            </a:rPr>
            <a:t>Model: </a:t>
          </a:r>
          <a:r>
            <a:rPr lang="en-US" sz="2800" kern="1200" dirty="0"/>
            <a:t>YOLO11</a:t>
          </a:r>
        </a:p>
      </dsp:txBody>
      <dsp:txXfrm>
        <a:off x="0" y="1087834"/>
        <a:ext cx="5181600" cy="1087834"/>
      </dsp:txXfrm>
    </dsp:sp>
    <dsp:sp modelId="{8BDD5D4F-3DD4-4905-B4E3-E64E5493DFDE}">
      <dsp:nvSpPr>
        <dsp:cNvPr id="0" name=""/>
        <dsp:cNvSpPr/>
      </dsp:nvSpPr>
      <dsp:spPr>
        <a:xfrm>
          <a:off x="0" y="2175669"/>
          <a:ext cx="5181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8CAFC6-1A3F-4F8E-9304-E5C4EBFF8E89}">
      <dsp:nvSpPr>
        <dsp:cNvPr id="0" name=""/>
        <dsp:cNvSpPr/>
      </dsp:nvSpPr>
      <dsp:spPr>
        <a:xfrm>
          <a:off x="0" y="2175669"/>
          <a:ext cx="5181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solidFill>
                <a:srgbClr val="0070C0"/>
              </a:solidFill>
            </a:rPr>
            <a:t>Framework: </a:t>
          </a:r>
          <a:r>
            <a:rPr lang="en-US" sz="2800" kern="1200" dirty="0" err="1"/>
            <a:t>PyTorch</a:t>
          </a:r>
          <a:r>
            <a:rPr lang="en-US" sz="2800" kern="1200" dirty="0"/>
            <a:t>/</a:t>
          </a:r>
          <a:r>
            <a:rPr lang="en-US" sz="2800" kern="1200" dirty="0" err="1"/>
            <a:t>Ultralytics</a:t>
          </a:r>
          <a:r>
            <a:rPr lang="en-US" sz="2800" kern="1200" dirty="0"/>
            <a:t> </a:t>
          </a:r>
        </a:p>
      </dsp:txBody>
      <dsp:txXfrm>
        <a:off x="0" y="2175669"/>
        <a:ext cx="5181600" cy="1087834"/>
      </dsp:txXfrm>
    </dsp:sp>
    <dsp:sp modelId="{9EBDC1A1-A4F4-4589-9B60-7991F9A5238C}">
      <dsp:nvSpPr>
        <dsp:cNvPr id="0" name=""/>
        <dsp:cNvSpPr/>
      </dsp:nvSpPr>
      <dsp:spPr>
        <a:xfrm>
          <a:off x="0" y="3263503"/>
          <a:ext cx="5181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92427F-2D7A-48A4-961B-A8A17AB071F5}">
      <dsp:nvSpPr>
        <dsp:cNvPr id="0" name=""/>
        <dsp:cNvSpPr/>
      </dsp:nvSpPr>
      <dsp:spPr>
        <a:xfrm>
          <a:off x="0" y="3263503"/>
          <a:ext cx="5181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solidFill>
                <a:srgbClr val="0070C0"/>
              </a:solidFill>
            </a:rPr>
            <a:t>Dataset: </a:t>
          </a:r>
          <a:r>
            <a:rPr lang="en-US" sz="2800" kern="1200" dirty="0" err="1"/>
            <a:t>Roboflow</a:t>
          </a:r>
          <a:r>
            <a:rPr lang="en-US" sz="2800" kern="1200" dirty="0"/>
            <a:t> + Kaggle    </a:t>
          </a:r>
        </a:p>
      </dsp:txBody>
      <dsp:txXfrm>
        <a:off x="0" y="3263503"/>
        <a:ext cx="5181600" cy="108783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2B0EA3-E048-466F-9776-87751F29F13E}">
      <dsp:nvSpPr>
        <dsp:cNvPr id="0" name=""/>
        <dsp:cNvSpPr/>
      </dsp:nvSpPr>
      <dsp:spPr>
        <a:xfrm>
          <a:off x="0" y="96976"/>
          <a:ext cx="5393362" cy="4422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Source: </a:t>
          </a:r>
          <a:endParaRPr lang="en-US" sz="1800" kern="1200" dirty="0"/>
        </a:p>
      </dsp:txBody>
      <dsp:txXfrm>
        <a:off x="21589" y="118565"/>
        <a:ext cx="5350184" cy="399082"/>
      </dsp:txXfrm>
    </dsp:sp>
    <dsp:sp modelId="{4B7D8917-BD26-4824-BF10-FA855F8A43F8}">
      <dsp:nvSpPr>
        <dsp:cNvPr id="0" name=""/>
        <dsp:cNvSpPr/>
      </dsp:nvSpPr>
      <dsp:spPr>
        <a:xfrm>
          <a:off x="0" y="539236"/>
          <a:ext cx="5393362" cy="4843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239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1" kern="1200" dirty="0" err="1"/>
            <a:t>Roboflow</a:t>
          </a:r>
          <a:r>
            <a:rPr lang="en-US" sz="1400" b="1" kern="1200" dirty="0"/>
            <a:t> Universe 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1" kern="1200" dirty="0"/>
            <a:t>Kaggle PPE Datasets </a:t>
          </a:r>
          <a:endParaRPr lang="en-US" sz="1400" kern="1200" dirty="0"/>
        </a:p>
      </dsp:txBody>
      <dsp:txXfrm>
        <a:off x="0" y="539236"/>
        <a:ext cx="5393362" cy="484380"/>
      </dsp:txXfrm>
    </dsp:sp>
    <dsp:sp modelId="{EFFADA3A-EC9B-4D65-96EF-D70F561ED275}">
      <dsp:nvSpPr>
        <dsp:cNvPr id="0" name=""/>
        <dsp:cNvSpPr/>
      </dsp:nvSpPr>
      <dsp:spPr>
        <a:xfrm>
          <a:off x="0" y="1023616"/>
          <a:ext cx="5393362" cy="44226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Dataset Size:</a:t>
          </a:r>
          <a:r>
            <a:rPr lang="en-US" sz="1800" kern="1200"/>
            <a:t> </a:t>
          </a:r>
        </a:p>
      </dsp:txBody>
      <dsp:txXfrm>
        <a:off x="21589" y="1045205"/>
        <a:ext cx="5350184" cy="399082"/>
      </dsp:txXfrm>
    </dsp:sp>
    <dsp:sp modelId="{2B25FABE-A4EC-40FF-AA83-904456CFA15F}">
      <dsp:nvSpPr>
        <dsp:cNvPr id="0" name=""/>
        <dsp:cNvSpPr/>
      </dsp:nvSpPr>
      <dsp:spPr>
        <a:xfrm>
          <a:off x="0" y="1465876"/>
          <a:ext cx="5393362" cy="4843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239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 dirty="0" err="1"/>
            <a:t>Roboflow</a:t>
          </a:r>
          <a:r>
            <a:rPr lang="en-US" sz="1400" kern="1200" dirty="0"/>
            <a:t> dataset: 136 labeled images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 dirty="0"/>
            <a:t>Kaggle dataset: 7,035 images </a:t>
          </a:r>
        </a:p>
      </dsp:txBody>
      <dsp:txXfrm>
        <a:off x="0" y="1465876"/>
        <a:ext cx="5393362" cy="484380"/>
      </dsp:txXfrm>
    </dsp:sp>
    <dsp:sp modelId="{D66C30F6-3F7E-415E-B5C8-8F4A5E5005D3}">
      <dsp:nvSpPr>
        <dsp:cNvPr id="0" name=""/>
        <dsp:cNvSpPr/>
      </dsp:nvSpPr>
      <dsp:spPr>
        <a:xfrm>
          <a:off x="0" y="1950256"/>
          <a:ext cx="5393362" cy="44226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Labels:</a:t>
          </a:r>
          <a:r>
            <a:rPr lang="en-US" sz="1800" kern="1200" dirty="0"/>
            <a:t> </a:t>
          </a:r>
        </a:p>
      </dsp:txBody>
      <dsp:txXfrm>
        <a:off x="21589" y="1971845"/>
        <a:ext cx="5350184" cy="399082"/>
      </dsp:txXfrm>
    </dsp:sp>
    <dsp:sp modelId="{FD4955B5-3151-4A88-9A88-057DFE1EB57E}">
      <dsp:nvSpPr>
        <dsp:cNvPr id="0" name=""/>
        <dsp:cNvSpPr/>
      </dsp:nvSpPr>
      <dsp:spPr>
        <a:xfrm>
          <a:off x="0" y="2392516"/>
          <a:ext cx="5393362" cy="968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239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 dirty="0"/>
            <a:t>Person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 dirty="0"/>
            <a:t>Hard Hat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 dirty="0"/>
            <a:t>Safety Vest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 dirty="0"/>
            <a:t>Safety Goggles</a:t>
          </a:r>
        </a:p>
      </dsp:txBody>
      <dsp:txXfrm>
        <a:off x="0" y="2392516"/>
        <a:ext cx="5393362" cy="968760"/>
      </dsp:txXfrm>
    </dsp:sp>
    <dsp:sp modelId="{A52C044E-6D5D-4DA2-B071-AEC0100A420B}">
      <dsp:nvSpPr>
        <dsp:cNvPr id="0" name=""/>
        <dsp:cNvSpPr/>
      </dsp:nvSpPr>
      <dsp:spPr>
        <a:xfrm>
          <a:off x="0" y="3361276"/>
          <a:ext cx="5393362" cy="44226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Data Preparation:</a:t>
          </a:r>
          <a:r>
            <a:rPr lang="en-US" sz="1800" kern="1200" dirty="0"/>
            <a:t> </a:t>
          </a:r>
        </a:p>
      </dsp:txBody>
      <dsp:txXfrm>
        <a:off x="21589" y="3382865"/>
        <a:ext cx="5350184" cy="399082"/>
      </dsp:txXfrm>
    </dsp:sp>
    <dsp:sp modelId="{8A952DC3-91AD-4410-99B5-0E2D561B4110}">
      <dsp:nvSpPr>
        <dsp:cNvPr id="0" name=""/>
        <dsp:cNvSpPr/>
      </dsp:nvSpPr>
      <dsp:spPr>
        <a:xfrm>
          <a:off x="0" y="3803536"/>
          <a:ext cx="5393362" cy="968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239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 dirty="0"/>
            <a:t>Verify annotations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 dirty="0"/>
            <a:t>Resize images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 dirty="0"/>
            <a:t>Data augmentation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 dirty="0"/>
            <a:t>Train / Validation / Test split</a:t>
          </a:r>
        </a:p>
      </dsp:txBody>
      <dsp:txXfrm>
        <a:off x="0" y="3803536"/>
        <a:ext cx="5393362" cy="9687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3C63CA-40EF-43F2-A87C-12AAE40726E3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4105C7-F58C-4A42-833D-BAB669207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682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4105C7-F58C-4A42-833D-BAB66920716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2670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4105C7-F58C-4A42-833D-BAB66920716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543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1BC12-47F7-60E3-7322-B6211A9BC3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C217C2-7163-47B4-EFF0-CC951C6599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E82E32-714F-F629-6278-2B0EBE9A0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AF480-D604-41A7-82B2-4008962EEE18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53BAAD-26FD-B113-EED0-77F0EE7E4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FFB810-7A73-B556-0D6F-25861C257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6B526-A961-48A9-B944-EF55C3D1A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170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AB5D6-6FD0-BE1A-EEDD-9660E30F9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FF170-DEB4-8BBC-2CFF-E8E388CF3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CF9111-438F-1AAD-E409-E9147B849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AF480-D604-41A7-82B2-4008962EEE18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7C446E-51BF-2F81-D830-C2AE1F3F3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E93EF1-B7EC-37D6-02E1-1DBE27931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6B526-A961-48A9-B944-EF55C3D1A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922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C07C7-345F-7D14-3309-3B451856C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88A76-98AC-224F-1E25-A00194EF52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685D5-F256-33A2-A07E-37FA1B27A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AF480-D604-41A7-82B2-4008962EEE18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71DC23-A3AE-DBBD-C384-2F4CDDE6C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2EC92-D27C-D2ED-313A-C43DAD76C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6B526-A961-48A9-B944-EF55C3D1A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186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47E1B-D838-CBB0-F9BC-38291A1EE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0DEAC-C50C-1A7C-382F-95F4508C23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1BDFD6-9A46-C96A-9949-383B62922A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CC866-65FA-E662-6DD1-9E3AC476C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AF480-D604-41A7-82B2-4008962EEE18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346172-FFA0-AAB4-6B67-EC008FC43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F8A34E-0068-B958-C013-29174A682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6B526-A961-48A9-B944-EF55C3D1A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8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37896-E35A-ABDA-76FC-72774EB79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50F8DF-7974-7775-790B-1BC1AE3878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285261-DB78-72FA-5A75-6A42FAB649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453500-F789-969D-F6B6-0EB021813A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F47607-23B7-09B3-7B9E-99E65AFEDE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464689-DB27-0EF7-B7E4-141D12DE0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AF480-D604-41A7-82B2-4008962EEE18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DD1E05-D7D1-7D8C-BF55-94556A7C1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58CDCE-2502-6E08-A102-10A471F8D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6B526-A961-48A9-B944-EF55C3D1A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820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4CE01-E7DB-D615-D069-02AEFCA19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2FCC1B-55D8-684B-E7AC-43E162671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AF480-D604-41A7-82B2-4008962EEE18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35F84A-262C-EA69-DB6A-A200AAD29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218F26-5FB1-457D-DB12-1CFF484F5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6B526-A961-48A9-B944-EF55C3D1A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07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C6EEBE-2DED-D488-1D30-77E4FFA4F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AF480-D604-41A7-82B2-4008962EEE18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27D147-AC9D-F854-B2B8-212B6AF5A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71D2CB-183B-F56A-94E4-86F6B9C8B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6B526-A961-48A9-B944-EF55C3D1A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395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5BB99-5539-210A-5BAA-AA2D63832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B6C8FD-8454-F583-0074-945A4994B3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872355-ED3E-4823-C933-FE7699FE30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08E992-8161-D87D-078E-8F4241C3E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AF480-D604-41A7-82B2-4008962EEE18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38BE63-970E-8EC5-94AE-190E054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3E3073-0F1F-0093-0356-B2AA70EDF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6B526-A961-48A9-B944-EF55C3D1A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002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619C3-8EE6-6B3D-9A95-15183D919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E226CA-502C-0A6F-127F-ECCDF13E68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48FE72-A2FA-A2B0-BB4D-C2E7AF5353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05A1D2-E63F-D893-F45E-D969242F1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AF480-D604-41A7-82B2-4008962EEE18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1384C7-B2DF-CF0A-BE9E-6A12D27D7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DB9E57-E78F-EC19-9B88-689CD7BEE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6B526-A961-48A9-B944-EF55C3D1A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46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33969-D605-1C47-3954-A1BA5AA18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C89735-E80C-AAA5-7785-229D2A84C3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78C84-43D1-37C4-2078-316A001F0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AF480-D604-41A7-82B2-4008962EEE18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C84606-C48C-0C16-AF63-FC24AF413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3FB890-E963-94D1-3D9A-7118918F4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6B526-A961-48A9-B944-EF55C3D1A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460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83A6C8-F996-6364-5DCA-C4E939C364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2992DA-8610-C906-9BF5-A38FC7428C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51B33B-E591-06B0-2D66-05BEB58FD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AF480-D604-41A7-82B2-4008962EEE18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2A60E3-2D56-EA7D-CFE0-74F1B2AF7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61A0CA-E28C-425E-B29A-86B311583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6B526-A961-48A9-B944-EF55C3D1A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544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69DFBC-5F1D-2DE4-2CFD-CDE9D97DF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A220CA-1384-04DA-3472-64C8CB059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84B6C-B970-1436-2563-52C2E55591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3AF480-D604-41A7-82B2-4008962EEE18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CD933-19B3-9CF1-A8F8-74FCCFDA35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C0F62B-C9EB-2A5A-79BE-61408B45B1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66B526-A961-48A9-B944-EF55C3D1A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132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sv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2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3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Relationship Id="rId9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9EF30C2-29AC-4A0D-BC0A-A679CF113E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00500" y="1087403"/>
            <a:ext cx="8191500" cy="5770597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EB63E-FA01-5129-F098-9988796EFD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93519" y="1944316"/>
            <a:ext cx="6589707" cy="277707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PPE Compliance Check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88544A-DFCB-6FB7-5A13-C900EF0E55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93520" y="5224337"/>
            <a:ext cx="6589707" cy="1329443"/>
          </a:xfrm>
        </p:spPr>
        <p:txBody>
          <a:bodyPr>
            <a:normAutofit/>
          </a:bodyPr>
          <a:lstStyle/>
          <a:p>
            <a:pPr algn="l"/>
            <a:r>
              <a:rPr lang="en-US" sz="2200" dirty="0">
                <a:solidFill>
                  <a:srgbClr val="FFFFFF"/>
                </a:solidFill>
              </a:rPr>
              <a:t>Eva Abou Harb                         Project Tier: 2</a:t>
            </a:r>
          </a:p>
          <a:p>
            <a:pPr algn="l"/>
            <a:r>
              <a:rPr lang="en-US" sz="2200" dirty="0">
                <a:solidFill>
                  <a:srgbClr val="FFFFFF"/>
                </a:solidFill>
              </a:rPr>
              <a:t>Mary Ann Mastri</a:t>
            </a:r>
          </a:p>
          <a:p>
            <a:pPr algn="l"/>
            <a:r>
              <a:rPr lang="en-US" sz="2200" dirty="0">
                <a:solidFill>
                  <a:srgbClr val="FFFFFF"/>
                </a:solidFill>
              </a:rPr>
              <a:t>Zain Ahmed 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66A0658-1CC4-4B0D-AAB7-A702286AF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6241" y="18393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04F1504-431A-4D86-9091-AE7E4B333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2348" y="1"/>
            <a:ext cx="2279742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A804283-B929-4503-802F-4585376E2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D3811F5-514E-49A4-B382-673ED228A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69044" y="514898"/>
            <a:ext cx="2393351" cy="232842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67AD921-1CEE-4C1B-9AA3-C66D908DD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49740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C36A08F5-3B56-47C5-A371-9187BE56E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539683" y="4203427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595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EA70C-E9B8-1115-8A8A-51B253D98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40" y="1138265"/>
            <a:ext cx="4544762" cy="1401183"/>
          </a:xfrm>
        </p:spPr>
        <p:txBody>
          <a:bodyPr anchor="t">
            <a:normAutofit/>
          </a:bodyPr>
          <a:lstStyle/>
          <a:p>
            <a:r>
              <a:rPr lang="en-US" sz="3200" b="1" dirty="0"/>
              <a:t>The Problem </a:t>
            </a:r>
            <a:endParaRPr lang="en-US" sz="3200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C23E3B9-5ABF-58B3-E2B0-E9A5DAA90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1462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 descr="Warning with solid fill">
            <a:extLst>
              <a:ext uri="{FF2B5EF4-FFF2-40B4-BE49-F238E27FC236}">
                <a16:creationId xmlns:a16="http://schemas.microsoft.com/office/drawing/2014/main" id="{76A20301-BA4C-813A-8DA3-48432D5868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1780" y="771753"/>
            <a:ext cx="5316095" cy="5316095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49DD4EC-55E3-7D1D-0C85-80C5942F83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2726430"/>
              </p:ext>
            </p:extLst>
          </p:nvPr>
        </p:nvGraphicFramePr>
        <p:xfrm>
          <a:off x="560439" y="1691148"/>
          <a:ext cx="4746163" cy="4462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946396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C560F-92F0-ED35-D7B8-E3821DFC7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40" y="1138265"/>
            <a:ext cx="4544762" cy="1401183"/>
          </a:xfrm>
        </p:spPr>
        <p:txBody>
          <a:bodyPr anchor="t">
            <a:normAutofit/>
          </a:bodyPr>
          <a:lstStyle/>
          <a:p>
            <a:r>
              <a:rPr lang="en-US" sz="3200" b="1" dirty="0"/>
              <a:t>Our Solution</a:t>
            </a:r>
            <a:br>
              <a:rPr lang="en-US" sz="3200" dirty="0"/>
            </a:br>
            <a:endParaRPr lang="en-US" sz="32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C23E3B9-5ABF-58B3-E2B0-E9A5DAA90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1462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572CFCD-850E-A721-001B-F0525F3D86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5236953"/>
              </p:ext>
            </p:extLst>
          </p:nvPr>
        </p:nvGraphicFramePr>
        <p:xfrm>
          <a:off x="761840" y="1789044"/>
          <a:ext cx="4544762" cy="43650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681D366C-8015-75EC-56F8-475C8066AB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89886" y="1050051"/>
            <a:ext cx="5523937" cy="5390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367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2198B-FF3F-B817-BD68-017DF0D7C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sz="3700" b="1" dirty="0"/>
              <a:t>Technical Approach</a:t>
            </a:r>
            <a:br>
              <a:rPr lang="en-US" sz="3700" dirty="0"/>
            </a:br>
            <a:endParaRPr lang="en-US" sz="3700" dirty="0"/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6A0C8BF4-8FF3-B1D2-0E80-8508D2A96CE7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773875015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6CC9EE-05AF-332D-18E7-A1405158552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1600" dirty="0"/>
              <a:t>YOLO11 was selected because it provides fast and accurate real-time object detection, making it ideal for PPE detection in construction environments. </a:t>
            </a:r>
            <a:r>
              <a:rPr lang="en-US" sz="1600" dirty="0" err="1"/>
              <a:t>PyTorch</a:t>
            </a:r>
            <a:r>
              <a:rPr lang="en-US" sz="1600" dirty="0"/>
              <a:t> and </a:t>
            </a:r>
            <a:r>
              <a:rPr lang="en-US" sz="1600" dirty="0" err="1"/>
              <a:t>Ultralytics</a:t>
            </a:r>
            <a:r>
              <a:rPr lang="en-US" sz="1600" dirty="0"/>
              <a:t> provide an efficient framework for training, evaluating, and deploying the model.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C2CD99B-FD27-AA64-3849-CEBDC2B794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7812" y="3088543"/>
            <a:ext cx="5654188" cy="3769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632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C9B9F33B-F0CC-4410-85D0-1B957DF435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D6C6C0-B8F7-C082-27ED-E6F75D8EE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93361" cy="1325563"/>
          </a:xfrm>
        </p:spPr>
        <p:txBody>
          <a:bodyPr>
            <a:normAutofit/>
          </a:bodyPr>
          <a:lstStyle/>
          <a:p>
            <a:r>
              <a:rPr lang="en-US" b="1"/>
              <a:t> Data Plan</a:t>
            </a:r>
            <a:br>
              <a:rPr lang="en-US"/>
            </a:br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55CB1B7E-4B0B-4E99-9560-9667270DA7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C924DBCE-E731-4B22-8181-A39C1D862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0631" y="2700688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81CAF8-FA33-ADF7-D565-7F98786045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" b="6"/>
          <a:stretch>
            <a:fillRect/>
          </a:stretch>
        </p:blipFill>
        <p:spPr>
          <a:xfrm>
            <a:off x="8219558" y="852372"/>
            <a:ext cx="3096807" cy="3096807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</p:spPr>
      </p:pic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196DE3D2-178D-4017-842D-87C88CE92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23881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43621FD4-D14D-45D5-9A57-9A2DE5EA59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55865" y="1026771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Arc 69">
            <a:extLst>
              <a:ext uri="{FF2B5EF4-FFF2-40B4-BE49-F238E27FC236}">
                <a16:creationId xmlns:a16="http://schemas.microsoft.com/office/drawing/2014/main" id="{034ACCCC-54D4-4F78-9B85-4A34FEBAA9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54998">
            <a:off x="6055857" y="4209253"/>
            <a:ext cx="3868217" cy="3868217"/>
          </a:xfrm>
          <a:prstGeom prst="arc">
            <a:avLst>
              <a:gd name="adj1" fmla="val 16200000"/>
              <a:gd name="adj2" fmla="val 20479261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72413CFE-8B8A-45C9-B7BA-CF49986D48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45" name="Content Placeholder 2">
            <a:extLst>
              <a:ext uri="{FF2B5EF4-FFF2-40B4-BE49-F238E27FC236}">
                <a16:creationId xmlns:a16="http://schemas.microsoft.com/office/drawing/2014/main" id="{8614F441-02C9-BAB1-EF24-02C3F3248A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9146511"/>
              </p:ext>
            </p:extLst>
          </p:nvPr>
        </p:nvGraphicFramePr>
        <p:xfrm>
          <a:off x="838199" y="1307690"/>
          <a:ext cx="5393362" cy="48692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43474610-B5A3-36DA-E8A1-4E96C5AD781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54307" y="4975610"/>
            <a:ext cx="2814487" cy="1449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3393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27546D-F4CD-8A87-61B3-34258BC5C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253" y="1396685"/>
            <a:ext cx="4333874" cy="485502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System Diagram</a:t>
            </a:r>
            <a:br>
              <a:rPr lang="en-US" dirty="0">
                <a:solidFill>
                  <a:srgbClr val="FFFFFF"/>
                </a:solidFill>
              </a:rPr>
            </a:b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3D765-3AC4-3A99-2EC8-855AE8B04D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4" y="1526032"/>
            <a:ext cx="5185204" cy="450926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b="1" dirty="0"/>
              <a:t>📷</a:t>
            </a:r>
            <a:r>
              <a:rPr lang="en-US" sz="1400" b="1" dirty="0"/>
              <a:t> Step 1 – Image Acquisition </a:t>
            </a:r>
          </a:p>
          <a:p>
            <a:pPr marL="0" indent="0">
              <a:buNone/>
            </a:pPr>
            <a:r>
              <a:rPr lang="en-US" sz="1400" dirty="0"/>
              <a:t>Capture or upload an image of workers at a construction site. 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2000" dirty="0"/>
              <a:t>🧠 </a:t>
            </a:r>
            <a:r>
              <a:rPr lang="en-US" sz="1400" b="1" dirty="0"/>
              <a:t>Step 2 – Model Inference </a:t>
            </a:r>
          </a:p>
          <a:p>
            <a:pPr marL="0" indent="0">
              <a:buNone/>
            </a:pPr>
            <a:r>
              <a:rPr lang="en-US" sz="1400" dirty="0"/>
              <a:t>YOLO11 processes the image and detects workers and PPE. </a:t>
            </a:r>
          </a:p>
          <a:p>
            <a:pPr marL="0" indent="0" algn="ctr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2000" dirty="0"/>
              <a:t>🦺</a:t>
            </a:r>
            <a:r>
              <a:rPr lang="en-US" sz="1400" dirty="0"/>
              <a:t> </a:t>
            </a:r>
            <a:r>
              <a:rPr lang="en-US" sz="1400" b="1" dirty="0"/>
              <a:t>Step 3 – PPE Detection </a:t>
            </a:r>
          </a:p>
          <a:p>
            <a:pPr marL="0" indent="0">
              <a:buNone/>
            </a:pPr>
            <a:r>
              <a:rPr lang="en-US" sz="1400" dirty="0"/>
              <a:t>Identify helmets, safety vests, and safety goggles. </a:t>
            </a:r>
          </a:p>
          <a:p>
            <a:pPr marL="0" indent="0">
              <a:buNone/>
            </a:pPr>
            <a:r>
              <a:rPr lang="en-US" sz="1400" dirty="0"/>
              <a:t>                                         </a:t>
            </a:r>
          </a:p>
          <a:p>
            <a:pPr marL="0" indent="0">
              <a:buNone/>
            </a:pPr>
            <a:r>
              <a:rPr lang="en-US" sz="2200" dirty="0"/>
              <a:t>✅</a:t>
            </a:r>
            <a:r>
              <a:rPr lang="en-US" sz="1400" dirty="0"/>
              <a:t> </a:t>
            </a:r>
            <a:r>
              <a:rPr lang="en-US" sz="1400" b="1" dirty="0"/>
              <a:t>Step 4 – Compliance Decision </a:t>
            </a:r>
          </a:p>
          <a:p>
            <a:pPr marL="0" indent="0">
              <a:buNone/>
            </a:pPr>
            <a:r>
              <a:rPr lang="en-US" sz="1400" dirty="0"/>
              <a:t>Determine whether each worker is compliant or non-compliant. 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2200" dirty="0"/>
              <a:t>📊 </a:t>
            </a:r>
            <a:r>
              <a:rPr lang="en-US" sz="1400" b="1" dirty="0"/>
              <a:t>Step 5 – Output &amp; Visualization </a:t>
            </a:r>
          </a:p>
          <a:p>
            <a:pPr marL="0" indent="0">
              <a:buNone/>
            </a:pPr>
            <a:r>
              <a:rPr lang="en-US" sz="1400" dirty="0"/>
              <a:t>Display detection results with bounding boxes, labels, and compliance status.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B42EC0F-AFD4-C5C6-B8C6-F51F1F0D4FAF}"/>
              </a:ext>
            </a:extLst>
          </p:cNvPr>
          <p:cNvCxnSpPr>
            <a:cxnSpLocks/>
          </p:cNvCxnSpPr>
          <p:nvPr/>
        </p:nvCxnSpPr>
        <p:spPr>
          <a:xfrm>
            <a:off x="7772400" y="2097157"/>
            <a:ext cx="0" cy="3578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368244F-187F-680A-8CD1-B0431F1982AB}"/>
              </a:ext>
            </a:extLst>
          </p:cNvPr>
          <p:cNvCxnSpPr>
            <a:cxnSpLocks/>
          </p:cNvCxnSpPr>
          <p:nvPr/>
        </p:nvCxnSpPr>
        <p:spPr>
          <a:xfrm>
            <a:off x="7772400" y="2951921"/>
            <a:ext cx="0" cy="35780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2790A51-FAA9-D917-57C3-5F42CC575C1D}"/>
              </a:ext>
            </a:extLst>
          </p:cNvPr>
          <p:cNvCxnSpPr>
            <a:cxnSpLocks/>
          </p:cNvCxnSpPr>
          <p:nvPr/>
        </p:nvCxnSpPr>
        <p:spPr>
          <a:xfrm>
            <a:off x="7772400" y="3796748"/>
            <a:ext cx="0" cy="33973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0B5407A-17E7-8EE9-2065-E4865D00C75E}"/>
              </a:ext>
            </a:extLst>
          </p:cNvPr>
          <p:cNvCxnSpPr>
            <a:cxnSpLocks/>
          </p:cNvCxnSpPr>
          <p:nvPr/>
        </p:nvCxnSpPr>
        <p:spPr>
          <a:xfrm>
            <a:off x="7772400" y="4711148"/>
            <a:ext cx="0" cy="32770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B2CF691E-8AB7-7E33-B5A3-17640699E684}"/>
              </a:ext>
            </a:extLst>
          </p:cNvPr>
          <p:cNvSpPr/>
          <p:nvPr/>
        </p:nvSpPr>
        <p:spPr>
          <a:xfrm>
            <a:off x="5370154" y="1396685"/>
            <a:ext cx="5177826" cy="447317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235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23B056-5914-107D-1510-AC01E93C8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222119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Success Metrics</a:t>
            </a:r>
            <a:br>
              <a:rPr lang="en-US" sz="4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41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73AB0B-4313-F002-E26F-2683A2F99297}"/>
              </a:ext>
            </a:extLst>
          </p:cNvPr>
          <p:cNvSpPr txBox="1"/>
          <p:nvPr/>
        </p:nvSpPr>
        <p:spPr>
          <a:xfrm>
            <a:off x="870148" y="4802538"/>
            <a:ext cx="5491090" cy="14119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900"/>
              </a:spcAft>
            </a:pPr>
            <a:r>
              <a:rPr lang="en-US" sz="2400" dirty="0"/>
              <a:t> </a:t>
            </a:r>
            <a:endParaRPr lang="en-US" sz="24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19FBA8C-87D4-9237-1A28-1A1FE291B3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0298" y="264222"/>
            <a:ext cx="1252008" cy="1260158"/>
          </a:xfrm>
          <a:prstGeom prst="rect">
            <a:avLst/>
          </a:prstGeom>
        </p:spPr>
      </p:pic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4706336-A572-C6BA-E93A-1DA669E077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1847464"/>
              </p:ext>
            </p:extLst>
          </p:nvPr>
        </p:nvGraphicFramePr>
        <p:xfrm>
          <a:off x="1488657" y="2694535"/>
          <a:ext cx="9211641" cy="3464227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3186132">
                  <a:extLst>
                    <a:ext uri="{9D8B030D-6E8A-4147-A177-3AD203B41FA5}">
                      <a16:colId xmlns:a16="http://schemas.microsoft.com/office/drawing/2014/main" val="3112186288"/>
                    </a:ext>
                  </a:extLst>
                </a:gridCol>
                <a:gridCol w="4071731">
                  <a:extLst>
                    <a:ext uri="{9D8B030D-6E8A-4147-A177-3AD203B41FA5}">
                      <a16:colId xmlns:a16="http://schemas.microsoft.com/office/drawing/2014/main" val="1083573481"/>
                    </a:ext>
                  </a:extLst>
                </a:gridCol>
                <a:gridCol w="1953778">
                  <a:extLst>
                    <a:ext uri="{9D8B030D-6E8A-4147-A177-3AD203B41FA5}">
                      <a16:colId xmlns:a16="http://schemas.microsoft.com/office/drawing/2014/main" val="3733287726"/>
                    </a:ext>
                  </a:extLst>
                </a:gridCol>
              </a:tblGrid>
              <a:tr h="7249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Metric Type</a:t>
                      </a:r>
                    </a:p>
                  </a:txBody>
                  <a:tcPr marL="164566" marR="164566" marT="82283" marB="822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Example</a:t>
                      </a:r>
                    </a:p>
                  </a:txBody>
                  <a:tcPr marL="164566" marR="164566" marT="82283" marB="822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Target</a:t>
                      </a:r>
                    </a:p>
                  </a:txBody>
                  <a:tcPr marL="164566" marR="164566" marT="82283" marB="82283" anchor="ctr"/>
                </a:tc>
                <a:extLst>
                  <a:ext uri="{0D108BD9-81ED-4DB2-BD59-A6C34878D82A}">
                    <a16:rowId xmlns:a16="http://schemas.microsoft.com/office/drawing/2014/main" val="3054232800"/>
                  </a:ext>
                </a:extLst>
              </a:tr>
              <a:tr h="1621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b="1">
                          <a:effectLst/>
                        </a:rPr>
                        <a:t>Primary Metric</a:t>
                      </a:r>
                      <a:endParaRPr lang="en-US" sz="3300">
                        <a:effectLst/>
                      </a:endParaRPr>
                    </a:p>
                  </a:txBody>
                  <a:tcPr marL="27428" marR="27428" marT="27428" marB="274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>
                          <a:effectLst/>
                        </a:rPr>
                        <a:t>Accuracy, Precision, Recall</a:t>
                      </a:r>
                    </a:p>
                  </a:txBody>
                  <a:tcPr marL="27428" marR="27428" marT="27428" marB="274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>
                          <a:effectLst/>
                        </a:rPr>
                        <a:t>≥ 90% overall accuracy</a:t>
                      </a:r>
                    </a:p>
                  </a:txBody>
                  <a:tcPr marL="27428" marR="27428" marT="27428" marB="27428" anchor="ctr"/>
                </a:tc>
                <a:extLst>
                  <a:ext uri="{0D108BD9-81ED-4DB2-BD59-A6C34878D82A}">
                    <a16:rowId xmlns:a16="http://schemas.microsoft.com/office/drawing/2014/main" val="2159899165"/>
                  </a:ext>
                </a:extLst>
              </a:tr>
              <a:tr h="11181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b="1">
                          <a:effectLst/>
                        </a:rPr>
                        <a:t>Secondary Metric</a:t>
                      </a:r>
                      <a:endParaRPr lang="en-US" sz="3300">
                        <a:effectLst/>
                      </a:endParaRPr>
                    </a:p>
                  </a:txBody>
                  <a:tcPr marL="27428" marR="27428" marT="27428" marB="274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dirty="0">
                          <a:effectLst/>
                        </a:rPr>
                        <a:t>Inference Speed (Latency) </a:t>
                      </a:r>
                    </a:p>
                  </a:txBody>
                  <a:tcPr marL="27428" marR="27428" marT="27428" marB="274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>
                          <a:effectLst/>
                        </a:rPr>
                        <a:t>&lt; 1s per image</a:t>
                      </a:r>
                    </a:p>
                  </a:txBody>
                  <a:tcPr marL="27428" marR="27428" marT="27428" marB="27428" anchor="ctr"/>
                </a:tc>
                <a:extLst>
                  <a:ext uri="{0D108BD9-81ED-4DB2-BD59-A6C34878D82A}">
                    <a16:rowId xmlns:a16="http://schemas.microsoft.com/office/drawing/2014/main" val="14747245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12777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DA1F35B-C8F7-4A5A-9339-7DA4D785B3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B2D4AD41-40DA-4A81-92F5-B6E3BA1ED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746107">
            <a:off x="8175088" y="457951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F9EDEF-8040-E11E-67AD-7E61BC125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Week-by-Week Plan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8102DD2-9345-AD1F-5FEA-91A19EA20B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7001842"/>
              </p:ext>
            </p:extLst>
          </p:nvPr>
        </p:nvGraphicFramePr>
        <p:xfrm>
          <a:off x="838200" y="2004767"/>
          <a:ext cx="10515601" cy="3993058"/>
        </p:xfrm>
        <a:graphic>
          <a:graphicData uri="http://schemas.openxmlformats.org/drawingml/2006/table">
            <a:tbl>
              <a:tblPr/>
              <a:tblGrid>
                <a:gridCol w="1278974">
                  <a:extLst>
                    <a:ext uri="{9D8B030D-6E8A-4147-A177-3AD203B41FA5}">
                      <a16:colId xmlns:a16="http://schemas.microsoft.com/office/drawing/2014/main" val="1247884054"/>
                    </a:ext>
                  </a:extLst>
                </a:gridCol>
                <a:gridCol w="5562463">
                  <a:extLst>
                    <a:ext uri="{9D8B030D-6E8A-4147-A177-3AD203B41FA5}">
                      <a16:colId xmlns:a16="http://schemas.microsoft.com/office/drawing/2014/main" val="3804585271"/>
                    </a:ext>
                  </a:extLst>
                </a:gridCol>
                <a:gridCol w="3674164">
                  <a:extLst>
                    <a:ext uri="{9D8B030D-6E8A-4147-A177-3AD203B41FA5}">
                      <a16:colId xmlns:a16="http://schemas.microsoft.com/office/drawing/2014/main" val="3259141301"/>
                    </a:ext>
                  </a:extLst>
                </a:gridCol>
              </a:tblGrid>
              <a:tr h="6555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2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8995" marR="148995" marT="74497" marB="744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2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8995" marR="148995" marT="74497" marB="744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2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8995" marR="148995" marT="74497" marB="7449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9436440"/>
                  </a:ext>
                </a:extLst>
              </a:tr>
              <a:tr h="55624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2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4832" marR="24832" marT="24832" marB="248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2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4832" marR="24832" marT="24832" marB="248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2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4832" marR="24832" marT="24832" marB="248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4145688"/>
                  </a:ext>
                </a:extLst>
              </a:tr>
              <a:tr h="55624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2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4832" marR="24832" marT="24832" marB="248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2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4832" marR="24832" marT="24832" marB="248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2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4832" marR="24832" marT="24832" marB="248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0316118"/>
                  </a:ext>
                </a:extLst>
              </a:tr>
              <a:tr h="55624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2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4832" marR="24832" marT="24832" marB="248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2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4832" marR="24832" marT="24832" marB="248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2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4832" marR="24832" marT="24832" marB="248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52333"/>
                  </a:ext>
                </a:extLst>
              </a:tr>
              <a:tr h="55624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2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4832" marR="24832" marT="24832" marB="248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2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4832" marR="24832" marT="24832" marB="248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2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4832" marR="24832" marT="24832" marB="248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8506887"/>
                  </a:ext>
                </a:extLst>
              </a:tr>
              <a:tr h="55624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2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4832" marR="24832" marT="24832" marB="248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2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4832" marR="24832" marT="24832" marB="248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2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4832" marR="24832" marT="24832" marB="248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012106"/>
                  </a:ext>
                </a:extLst>
              </a:tr>
              <a:tr h="55624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2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4832" marR="24832" marT="24832" marB="248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2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4832" marR="24832" marT="24832" marB="248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2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4832" marR="24832" marT="24832" marB="248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5676622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A2E9037D-910C-F0B8-4198-039892C5D5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7990690"/>
              </p:ext>
            </p:extLst>
          </p:nvPr>
        </p:nvGraphicFramePr>
        <p:xfrm>
          <a:off x="1331843" y="2446409"/>
          <a:ext cx="9163879" cy="355141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565065">
                  <a:extLst>
                    <a:ext uri="{9D8B030D-6E8A-4147-A177-3AD203B41FA5}">
                      <a16:colId xmlns:a16="http://schemas.microsoft.com/office/drawing/2014/main" val="2246511712"/>
                    </a:ext>
                  </a:extLst>
                </a:gridCol>
                <a:gridCol w="4598814">
                  <a:extLst>
                    <a:ext uri="{9D8B030D-6E8A-4147-A177-3AD203B41FA5}">
                      <a16:colId xmlns:a16="http://schemas.microsoft.com/office/drawing/2014/main" val="2050231703"/>
                    </a:ext>
                  </a:extLst>
                </a:gridCol>
              </a:tblGrid>
              <a:tr h="591903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Get dataset &amp; set up environment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✅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Dataset Ready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3951638"/>
                  </a:ext>
                </a:extLst>
              </a:tr>
              <a:tr h="591903">
                <a:tc>
                  <a:txBody>
                    <a:bodyPr/>
                    <a:lstStyle/>
                    <a:p>
                      <a:r>
                        <a:rPr lang="en-US" dirty="0"/>
                        <a:t>Train or fine-tune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🤖Model Working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699937"/>
                  </a:ext>
                </a:extLst>
              </a:tr>
              <a:tr h="591903">
                <a:tc>
                  <a:txBody>
                    <a:bodyPr/>
                    <a:lstStyle/>
                    <a:p>
                      <a:r>
                        <a:rPr lang="en-US" dirty="0"/>
                        <a:t>Test and improve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📈Good Accuracy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088081"/>
                  </a:ext>
                </a:extLst>
              </a:tr>
              <a:tr h="591903">
                <a:tc>
                  <a:txBody>
                    <a:bodyPr/>
                    <a:lstStyle/>
                    <a:p>
                      <a:r>
                        <a:rPr lang="en-US" dirty="0"/>
                        <a:t>Create demo or video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🎥Demo Ready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8309947"/>
                  </a:ext>
                </a:extLst>
              </a:tr>
              <a:tr h="591903">
                <a:tc>
                  <a:txBody>
                    <a:bodyPr/>
                    <a:lstStyle/>
                    <a:p>
                      <a:r>
                        <a:rPr lang="en-US" dirty="0"/>
                        <a:t>Final testing &amp; documentation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📄Everything Done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0983271"/>
                  </a:ext>
                </a:extLst>
              </a:tr>
              <a:tr h="591903">
                <a:tc>
                  <a:txBody>
                    <a:bodyPr/>
                    <a:lstStyle/>
                    <a:p>
                      <a:r>
                        <a:rPr lang="en-US" dirty="0"/>
                        <a:t>Present 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🎉Presentation Day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7305106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2E8BB29C-C422-8DCE-DC71-BD8456A36A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3409125"/>
              </p:ext>
            </p:extLst>
          </p:nvPr>
        </p:nvGraphicFramePr>
        <p:xfrm>
          <a:off x="1331843" y="1919288"/>
          <a:ext cx="9163880" cy="527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81940">
                  <a:extLst>
                    <a:ext uri="{9D8B030D-6E8A-4147-A177-3AD203B41FA5}">
                      <a16:colId xmlns:a16="http://schemas.microsoft.com/office/drawing/2014/main" val="2715957493"/>
                    </a:ext>
                  </a:extLst>
                </a:gridCol>
                <a:gridCol w="4581940">
                  <a:extLst>
                    <a:ext uri="{9D8B030D-6E8A-4147-A177-3AD203B41FA5}">
                      <a16:colId xmlns:a16="http://schemas.microsoft.com/office/drawing/2014/main" val="634030715"/>
                    </a:ext>
                  </a:extLst>
                </a:gridCol>
              </a:tblGrid>
              <a:tr h="52711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Task 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Milestone 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91009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7337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70017F6-563C-8F57-55DB-F02D9CA89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/>
              <a:t>Challenges &amp; Backup Plans  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EA4061B-EA4F-889F-B80A-DCBF7EF02D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0516132"/>
              </p:ext>
            </p:extLst>
          </p:nvPr>
        </p:nvGraphicFramePr>
        <p:xfrm>
          <a:off x="838200" y="2283011"/>
          <a:ext cx="10515600" cy="3839032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65892049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313974340"/>
                    </a:ext>
                  </a:extLst>
                </a:gridCol>
              </a:tblGrid>
              <a:tr h="592308">
                <a:tc>
                  <a:txBody>
                    <a:bodyPr/>
                    <a:lstStyle/>
                    <a:p>
                      <a:pPr algn="ctr"/>
                      <a:r>
                        <a:rPr lang="en-US" sz="2900"/>
                        <a:t>⚠️ Challenge </a:t>
                      </a:r>
                    </a:p>
                  </a:txBody>
                  <a:tcPr marL="109687" marR="109687" marT="54843" marB="548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900"/>
                        <a:t>🛠️ Plan B </a:t>
                      </a:r>
                    </a:p>
                  </a:txBody>
                  <a:tcPr marL="109687" marR="109687" marT="54843" marB="54843"/>
                </a:tc>
                <a:extLst>
                  <a:ext uri="{0D108BD9-81ED-4DB2-BD59-A6C34878D82A}">
                    <a16:rowId xmlns:a16="http://schemas.microsoft.com/office/drawing/2014/main" val="3462949044"/>
                  </a:ext>
                </a:extLst>
              </a:tr>
              <a:tr h="811681">
                <a:tc>
                  <a:txBody>
                    <a:bodyPr/>
                    <a:lstStyle/>
                    <a:p>
                      <a:r>
                        <a:rPr lang="en-US" sz="2200" dirty="0"/>
                        <a:t>Limited training data </a:t>
                      </a:r>
                    </a:p>
                  </a:txBody>
                  <a:tcPr marL="109687" marR="109687" marT="54843" marB="54843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Use additional Roboflow and Kaggle datasets. </a:t>
                      </a:r>
                    </a:p>
                  </a:txBody>
                  <a:tcPr marL="109687" marR="109687" marT="54843" marB="54843"/>
                </a:tc>
                <a:extLst>
                  <a:ext uri="{0D108BD9-81ED-4DB2-BD59-A6C34878D82A}">
                    <a16:rowId xmlns:a16="http://schemas.microsoft.com/office/drawing/2014/main" val="1851688256"/>
                  </a:ext>
                </a:extLst>
              </a:tr>
              <a:tr h="811681">
                <a:tc>
                  <a:txBody>
                    <a:bodyPr/>
                    <a:lstStyle/>
                    <a:p>
                      <a:r>
                        <a:rPr lang="en-US" sz="2200"/>
                        <a:t>Model accuracy below 90%</a:t>
                      </a:r>
                    </a:p>
                  </a:txBody>
                  <a:tcPr marL="109687" marR="109687" marT="54843" marB="54843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Apply data augmentation or use a larger YOLO11 model. </a:t>
                      </a:r>
                    </a:p>
                  </a:txBody>
                  <a:tcPr marL="109687" marR="109687" marT="54843" marB="54843"/>
                </a:tc>
                <a:extLst>
                  <a:ext uri="{0D108BD9-81ED-4DB2-BD59-A6C34878D82A}">
                    <a16:rowId xmlns:a16="http://schemas.microsoft.com/office/drawing/2014/main" val="4045821365"/>
                  </a:ext>
                </a:extLst>
              </a:tr>
              <a:tr h="811681">
                <a:tc>
                  <a:txBody>
                    <a:bodyPr/>
                    <a:lstStyle/>
                    <a:p>
                      <a:r>
                        <a:rPr lang="en-US" sz="2200"/>
                        <a:t>Poor lighting or image quality </a:t>
                      </a:r>
                    </a:p>
                  </a:txBody>
                  <a:tcPr marL="109687" marR="109687" marT="54843" marB="54843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Collect more diverse images and improve preprocessing. </a:t>
                      </a:r>
                    </a:p>
                  </a:txBody>
                  <a:tcPr marL="109687" marR="109687" marT="54843" marB="54843"/>
                </a:tc>
                <a:extLst>
                  <a:ext uri="{0D108BD9-81ED-4DB2-BD59-A6C34878D82A}">
                    <a16:rowId xmlns:a16="http://schemas.microsoft.com/office/drawing/2014/main" val="1023020119"/>
                  </a:ext>
                </a:extLst>
              </a:tr>
              <a:tr h="811681">
                <a:tc>
                  <a:txBody>
                    <a:bodyPr/>
                    <a:lstStyle/>
                    <a:p>
                      <a:r>
                        <a:rPr lang="en-US" sz="2200"/>
                        <a:t>Small or partially hidden PPE</a:t>
                      </a:r>
                    </a:p>
                  </a:txBody>
                  <a:tcPr marL="109687" marR="109687" marT="54843" marB="54843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Fine-tune the model with additional labeled images. </a:t>
                      </a:r>
                    </a:p>
                  </a:txBody>
                  <a:tcPr marL="109687" marR="109687" marT="54843" marB="54843"/>
                </a:tc>
                <a:extLst>
                  <a:ext uri="{0D108BD9-81ED-4DB2-BD59-A6C34878D82A}">
                    <a16:rowId xmlns:a16="http://schemas.microsoft.com/office/drawing/2014/main" val="6008065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97612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DA1F35B-C8F7-4A5A-9339-7DA4D785B3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B2D4AD41-40DA-4A81-92F5-B6E3BA1ED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746107">
            <a:off x="8175088" y="457951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A4F356-F7A1-78CE-8292-01BCE36DE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br>
              <a:rPr lang="en-US" b="1" dirty="0"/>
            </a:br>
            <a:br>
              <a:rPr lang="en-US" b="1" dirty="0"/>
            </a:br>
            <a:r>
              <a:rPr lang="en-US" b="1" dirty="0"/>
              <a:t>Resources Needed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3A36DF70-DD5B-A1B0-B7C3-3150ACDB42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2900067"/>
              </p:ext>
            </p:extLst>
          </p:nvPr>
        </p:nvGraphicFramePr>
        <p:xfrm>
          <a:off x="1032933" y="2055812"/>
          <a:ext cx="9979196" cy="369951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567423">
                  <a:extLst>
                    <a:ext uri="{9D8B030D-6E8A-4147-A177-3AD203B41FA5}">
                      <a16:colId xmlns:a16="http://schemas.microsoft.com/office/drawing/2014/main" val="1889120619"/>
                    </a:ext>
                  </a:extLst>
                </a:gridCol>
                <a:gridCol w="4411773">
                  <a:extLst>
                    <a:ext uri="{9D8B030D-6E8A-4147-A177-3AD203B41FA5}">
                      <a16:colId xmlns:a16="http://schemas.microsoft.com/office/drawing/2014/main" val="3828768154"/>
                    </a:ext>
                  </a:extLst>
                </a:gridCol>
              </a:tblGrid>
              <a:tr h="8936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500" b="1" cap="none" spc="0" dirty="0">
                          <a:solidFill>
                            <a:schemeClr val="bg1"/>
                          </a:solidFill>
                        </a:rPr>
                        <a:t>Resource</a:t>
                      </a:r>
                    </a:p>
                  </a:txBody>
                  <a:tcPr marL="251460" marR="251460" marT="251460" marB="1257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500" b="1" cap="none" spc="0" dirty="0">
                          <a:solidFill>
                            <a:schemeClr val="bg1"/>
                          </a:solidFill>
                        </a:rPr>
                        <a:t>Options / Notes</a:t>
                      </a:r>
                    </a:p>
                  </a:txBody>
                  <a:tcPr marL="251460" marR="251460" marT="251460" marB="125730" anchor="ctr"/>
                </a:tc>
                <a:extLst>
                  <a:ext uri="{0D108BD9-81ED-4DB2-BD59-A6C34878D82A}">
                    <a16:rowId xmlns:a16="http://schemas.microsoft.com/office/drawing/2014/main" val="3615062157"/>
                  </a:ext>
                </a:extLst>
              </a:tr>
              <a:tr h="587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cap="none" spc="0" dirty="0">
                          <a:solidFill>
                            <a:schemeClr val="tx1"/>
                          </a:solidFill>
                          <a:effectLst/>
                        </a:rPr>
                        <a:t>Compute</a:t>
                      </a:r>
                      <a:endParaRPr lang="en-US" sz="2000" cap="none" spc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1910" marR="41910" marT="251460" marB="419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 dirty="0">
                          <a:solidFill>
                            <a:schemeClr val="tx1"/>
                          </a:solidFill>
                          <a:effectLst/>
                        </a:rPr>
                        <a:t>Google </a:t>
                      </a:r>
                      <a:r>
                        <a:rPr lang="en-US" sz="2000" cap="none" spc="0" dirty="0" err="1">
                          <a:solidFill>
                            <a:schemeClr val="tx1"/>
                          </a:solidFill>
                          <a:effectLst/>
                        </a:rPr>
                        <a:t>Colab</a:t>
                      </a:r>
                      <a:r>
                        <a:rPr lang="en-US" sz="2000" cap="none" spc="0" dirty="0">
                          <a:solidFill>
                            <a:schemeClr val="tx1"/>
                          </a:solidFill>
                          <a:effectLst/>
                        </a:rPr>
                        <a:t>, Kaggle</a:t>
                      </a:r>
                    </a:p>
                  </a:txBody>
                  <a:tcPr marL="41910" marR="41910" marT="251460" marB="41910" anchor="ctr"/>
                </a:tc>
                <a:extLst>
                  <a:ext uri="{0D108BD9-81ED-4DB2-BD59-A6C34878D82A}">
                    <a16:rowId xmlns:a16="http://schemas.microsoft.com/office/drawing/2014/main" val="2804121414"/>
                  </a:ext>
                </a:extLst>
              </a:tr>
              <a:tr h="587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cap="none" spc="0" dirty="0">
                          <a:solidFill>
                            <a:schemeClr val="tx1"/>
                          </a:solidFill>
                          <a:effectLst/>
                        </a:rPr>
                        <a:t>Frameworks</a:t>
                      </a:r>
                      <a:endParaRPr lang="en-US" sz="2000" cap="none" spc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1910" marR="41910" marT="251460" marB="419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 dirty="0" err="1">
                          <a:solidFill>
                            <a:schemeClr val="tx1"/>
                          </a:solidFill>
                          <a:effectLst/>
                        </a:rPr>
                        <a:t>PyTorch</a:t>
                      </a:r>
                      <a:r>
                        <a:rPr lang="en-US" sz="2000" cap="none" spc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en-US" sz="2000" cap="none" spc="0" dirty="0" err="1">
                          <a:solidFill>
                            <a:schemeClr val="tx1"/>
                          </a:solidFill>
                          <a:effectLst/>
                        </a:rPr>
                        <a:t>Ultralytics</a:t>
                      </a:r>
                      <a:endParaRPr lang="en-US" sz="2000" cap="none" spc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1910" marR="41910" marT="251460" marB="41910" anchor="ctr"/>
                </a:tc>
                <a:extLst>
                  <a:ext uri="{0D108BD9-81ED-4DB2-BD59-A6C34878D82A}">
                    <a16:rowId xmlns:a16="http://schemas.microsoft.com/office/drawing/2014/main" val="2927817618"/>
                  </a:ext>
                </a:extLst>
              </a:tr>
              <a:tr h="587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cap="none" spc="0" dirty="0">
                          <a:solidFill>
                            <a:schemeClr val="tx1"/>
                          </a:solidFill>
                          <a:effectLst/>
                        </a:rPr>
                        <a:t>Dataset Sources </a:t>
                      </a:r>
                    </a:p>
                  </a:txBody>
                  <a:tcPr marL="41910" marR="41910" marT="251460" marB="419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 dirty="0" err="1">
                          <a:solidFill>
                            <a:schemeClr val="tx1"/>
                          </a:solidFill>
                          <a:effectLst/>
                        </a:rPr>
                        <a:t>Roboflow</a:t>
                      </a:r>
                      <a:r>
                        <a:rPr lang="en-US" sz="2000" cap="none" spc="0" dirty="0">
                          <a:solidFill>
                            <a:schemeClr val="tx1"/>
                          </a:solidFill>
                          <a:effectLst/>
                        </a:rPr>
                        <a:t>, Kaggle </a:t>
                      </a:r>
                    </a:p>
                  </a:txBody>
                  <a:tcPr marL="41910" marR="41910" marT="251460" marB="41910" anchor="ctr"/>
                </a:tc>
                <a:extLst>
                  <a:ext uri="{0D108BD9-81ED-4DB2-BD59-A6C34878D82A}">
                    <a16:rowId xmlns:a16="http://schemas.microsoft.com/office/drawing/2014/main" val="1083256607"/>
                  </a:ext>
                </a:extLst>
              </a:tr>
              <a:tr h="587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cap="none" spc="0" dirty="0">
                          <a:solidFill>
                            <a:schemeClr val="tx1"/>
                          </a:solidFill>
                          <a:effectLst/>
                        </a:rPr>
                        <a:t>Development Tools </a:t>
                      </a:r>
                    </a:p>
                  </a:txBody>
                  <a:tcPr marL="41910" marR="41910" marT="251460" marB="419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 dirty="0">
                          <a:solidFill>
                            <a:schemeClr val="tx1"/>
                          </a:solidFill>
                          <a:effectLst/>
                        </a:rPr>
                        <a:t>Python, Jupyter Notebook</a:t>
                      </a:r>
                    </a:p>
                  </a:txBody>
                  <a:tcPr marL="41910" marR="41910" marT="251460" marB="41910" anchor="ctr"/>
                </a:tc>
                <a:extLst>
                  <a:ext uri="{0D108BD9-81ED-4DB2-BD59-A6C34878D82A}">
                    <a16:rowId xmlns:a16="http://schemas.microsoft.com/office/drawing/2014/main" val="111697794"/>
                  </a:ext>
                </a:extLst>
              </a:tr>
              <a:tr h="388876">
                <a:tc>
                  <a:txBody>
                    <a:bodyPr/>
                    <a:lstStyle/>
                    <a:p>
                      <a:r>
                        <a:rPr lang="en-US" sz="2000" b="1" dirty="0"/>
                        <a:t>Estimated Cost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$0 (using free educational resources)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93442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5938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B9C26620A2903499788FD7775927B3C" ma:contentTypeVersion="11" ma:contentTypeDescription="Create a new document." ma:contentTypeScope="" ma:versionID="b32f2e35fca819c3c6d42365951928be">
  <xsd:schema xmlns:xsd="http://www.w3.org/2001/XMLSchema" xmlns:xs="http://www.w3.org/2001/XMLSchema" xmlns:p="http://schemas.microsoft.com/office/2006/metadata/properties" xmlns:ns3="2050fabf-f71e-4d85-a174-a20be7c8440e" targetNamespace="http://schemas.microsoft.com/office/2006/metadata/properties" ma:root="true" ma:fieldsID="5b5361bd6832cf0ab3eeb7e2db5381a3" ns3:_="">
    <xsd:import namespace="2050fabf-f71e-4d85-a174-a20be7c8440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50fabf-f71e-4d85-a174-a20be7c8440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050fabf-f71e-4d85-a174-a20be7c8440e" xsi:nil="true"/>
  </documentManagement>
</p:properties>
</file>

<file path=customXml/itemProps1.xml><?xml version="1.0" encoding="utf-8"?>
<ds:datastoreItem xmlns:ds="http://schemas.openxmlformats.org/officeDocument/2006/customXml" ds:itemID="{C0FC4479-8BAF-434B-8967-6C0988E49A1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444B4CB-79A8-48C1-ABAC-15C6C3F2B8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050fabf-f71e-4d85-a174-a20be7c8440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0FBD7DF-C4B1-4566-AD91-6FB377F85CE2}">
  <ds:schemaRefs>
    <ds:schemaRef ds:uri="2050fabf-f71e-4d85-a174-a20be7c8440e"/>
    <ds:schemaRef ds:uri="http://schemas.openxmlformats.org/package/2006/metadata/core-properties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purl.org/dc/terms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3346</TotalTime>
  <Words>537</Words>
  <Application>Microsoft Office PowerPoint</Application>
  <PresentationFormat>Widescreen</PresentationFormat>
  <Paragraphs>122</Paragraphs>
  <Slides>10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PPE Compliance Check </vt:lpstr>
      <vt:lpstr>The Problem </vt:lpstr>
      <vt:lpstr>Our Solution </vt:lpstr>
      <vt:lpstr>Technical Approach </vt:lpstr>
      <vt:lpstr> Data Plan </vt:lpstr>
      <vt:lpstr>System Diagram </vt:lpstr>
      <vt:lpstr>Success Metrics </vt:lpstr>
      <vt:lpstr> Week-by-Week Plan </vt:lpstr>
      <vt:lpstr>Challenges &amp; Backup Plans  </vt:lpstr>
      <vt:lpstr>  Resources Needed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eva.abouabouharb-W215094304</dc:creator>
  <cp:lastModifiedBy>eva.abouabouharb-W215094304</cp:lastModifiedBy>
  <cp:revision>2</cp:revision>
  <dcterms:created xsi:type="dcterms:W3CDTF">2026-06-25T23:18:19Z</dcterms:created>
  <dcterms:modified xsi:type="dcterms:W3CDTF">2026-07-12T23:06:38Z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0x0101007B9C26620A2903499788FD7775927B3C</vt:lpwstr>
  </property>
</Properties>
</file>